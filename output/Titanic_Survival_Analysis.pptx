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60f69c55895455f" /><Relationship Type="http://schemas.openxmlformats.org/officeDocument/2006/relationships/extended-properties" Target="/docProps/app.xml" Id="Ra54693a76ede485b" /><Relationship Type="http://schemas.openxmlformats.org/officeDocument/2006/relationships/officeDocument" Target="/ppt/presentation.xml" Id="Rf436d19668cc48d9" /></Relationships>
</file>

<file path=ppt/presentation.xml><?xml version="1.0" encoding="utf-8"?>
<p:presentation xmlns:p="http://schemas.openxmlformats.org/presentationml/2006/main">
  <p:sldMasterIdLst>
    <p:sldMasterId xmlns:r="http://schemas.openxmlformats.org/officeDocument/2006/relationships" id="2147483648" r:id="R5709b7b2e92b46b7"/>
  </p:sldMasterIdLst>
  <p:notesMasterIdLst>
    <p:notesMasterId xmlns:r="http://schemas.openxmlformats.org/officeDocument/2006/relationships" r:id="R607f9985040e48c7"/>
  </p:notesMasterIdLst>
  <p:sldIdLst>
    <p:sldId xmlns:r="http://schemas.openxmlformats.org/officeDocument/2006/relationships" id="256" r:id="R80c32c286f4748d0"/>
    <p:sldId xmlns:r="http://schemas.openxmlformats.org/officeDocument/2006/relationships" id="257" r:id="R699ee885caec4430"/>
    <p:sldId xmlns:r="http://schemas.openxmlformats.org/officeDocument/2006/relationships" id="258" r:id="Rd9e6fb80fd10431b"/>
    <p:sldId xmlns:r="http://schemas.openxmlformats.org/officeDocument/2006/relationships" id="259" r:id="R97a4f87d99e34065"/>
    <p:sldId xmlns:r="http://schemas.openxmlformats.org/officeDocument/2006/relationships" id="260" r:id="R59508088ea2d4d3d"/>
    <p:sldId xmlns:r="http://schemas.openxmlformats.org/officeDocument/2006/relationships" id="261" r:id="Ra5e77e76a3b74429"/>
    <p:sldId xmlns:r="http://schemas.openxmlformats.org/officeDocument/2006/relationships" id="262" r:id="R7748a7fecb8a46d8"/>
    <p:sldId xmlns:r="http://schemas.openxmlformats.org/officeDocument/2006/relationships" id="263" r:id="Rf98e0015b4924f45"/>
    <p:sldId xmlns:r="http://schemas.openxmlformats.org/officeDocument/2006/relationships" id="264" r:id="R35ac986e5e9e414a"/>
    <p:sldId xmlns:r="http://schemas.openxmlformats.org/officeDocument/2006/relationships" id="265" r:id="R6645bf4a12474002"/>
    <p:sldId xmlns:r="http://schemas.openxmlformats.org/officeDocument/2006/relationships" id="266" r:id="R5f3f89ff1d6746d3"/>
    <p:sldId xmlns:r="http://schemas.openxmlformats.org/officeDocument/2006/relationships" id="267" r:id="Rd6a3f0b72cf14def"/>
    <p:sldId xmlns:r="http://schemas.openxmlformats.org/officeDocument/2006/relationships" id="268" r:id="Re9fe9767606b4e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76c75c6030451d" /><Relationship Type="http://schemas.openxmlformats.org/officeDocument/2006/relationships/slideMaster" Target="/ppt/slideMasters/slideMaster1.xml" Id="R5709b7b2e92b46b7" /><Relationship Type="http://schemas.openxmlformats.org/officeDocument/2006/relationships/notesMaster" Target="/ppt/notesMasters/notesMaster1.xml" Id="R607f9985040e48c7" /><Relationship Type="http://schemas.openxmlformats.org/officeDocument/2006/relationships/presProps" Target="/ppt/presProps.xml" Id="Rc1bd966b08f1489c" /><Relationship Type="http://schemas.openxmlformats.org/officeDocument/2006/relationships/tableStyles" Target="/ppt/tableStyles.xml" Id="R4248346a416843c1" /><Relationship Type="http://schemas.openxmlformats.org/officeDocument/2006/relationships/slide" Target="/ppt/slides/slide1.xml" Id="R80c32c286f4748d0" /><Relationship Type="http://schemas.openxmlformats.org/officeDocument/2006/relationships/slide" Target="/ppt/slides/slide2.xml" Id="R699ee885caec4430" /><Relationship Type="http://schemas.openxmlformats.org/officeDocument/2006/relationships/slide" Target="/ppt/slides/slide3.xml" Id="Rd9e6fb80fd10431b" /><Relationship Type="http://schemas.openxmlformats.org/officeDocument/2006/relationships/slide" Target="/ppt/slides/slide4.xml" Id="R97a4f87d99e34065" /><Relationship Type="http://schemas.openxmlformats.org/officeDocument/2006/relationships/slide" Target="/ppt/slides/slide5.xml" Id="R59508088ea2d4d3d" /><Relationship Type="http://schemas.openxmlformats.org/officeDocument/2006/relationships/slide" Target="/ppt/slides/slide6.xml" Id="Ra5e77e76a3b74429" /><Relationship Type="http://schemas.openxmlformats.org/officeDocument/2006/relationships/slide" Target="/ppt/slides/slide7.xml" Id="R7748a7fecb8a46d8" /><Relationship Type="http://schemas.openxmlformats.org/officeDocument/2006/relationships/slide" Target="/ppt/slides/slide8.xml" Id="Rf98e0015b4924f45" /><Relationship Type="http://schemas.openxmlformats.org/officeDocument/2006/relationships/slide" Target="/ppt/slides/slide9.xml" Id="R35ac986e5e9e414a" /><Relationship Type="http://schemas.openxmlformats.org/officeDocument/2006/relationships/slide" Target="/ppt/slides/slide10.xml" Id="R6645bf4a12474002" /><Relationship Type="http://schemas.openxmlformats.org/officeDocument/2006/relationships/slide" Target="/ppt/slides/slide11.xml" Id="R5f3f89ff1d6746d3" /><Relationship Type="http://schemas.openxmlformats.org/officeDocument/2006/relationships/slide" Target="/ppt/slides/slide12.xml" Id="Rd6a3f0b72cf14def" /><Relationship Type="http://schemas.openxmlformats.org/officeDocument/2006/relationships/slide" Target="/ppt/slides/slide13.xml" Id="Re9fe9767606b4e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95f4fd5e674e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385a406a714476" /><Relationship Type="http://schemas.openxmlformats.org/officeDocument/2006/relationships/notesMaster" Target="/ppt/notesMasters/notesMaster1.xml" Id="Refc87d36cab44b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1cc9ac494d47a9" /><Relationship Type="http://schemas.openxmlformats.org/officeDocument/2006/relationships/notesMaster" Target="/ppt/notesMasters/notesMaster1.xml" Id="Re15e126513ed4a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25cdbf34474e1d" /><Relationship Type="http://schemas.openxmlformats.org/officeDocument/2006/relationships/notesMaster" Target="/ppt/notesMasters/notesMaster1.xml" Id="R8471e9d9577d44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9e5dde6d1614620" /><Relationship Type="http://schemas.openxmlformats.org/officeDocument/2006/relationships/notesMaster" Target="/ppt/notesMasters/notesMaster1.xml" Id="Rd76bf75211e345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6e0f37c1924cf9" /><Relationship Type="http://schemas.openxmlformats.org/officeDocument/2006/relationships/notesMaster" Target="/ppt/notesMasters/notesMaster1.xml" Id="Ra372b8a9c73f4b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ad620637d248b6" /><Relationship Type="http://schemas.openxmlformats.org/officeDocument/2006/relationships/notesMaster" Target="/ppt/notesMasters/notesMaster1.xml" Id="Rc26d733cdbc948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8c929c0e344ed0" /><Relationship Type="http://schemas.openxmlformats.org/officeDocument/2006/relationships/notesMaster" Target="/ppt/notesMasters/notesMaster1.xml" Id="R7a62abdcb8fc48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c1d6e6826f4287" /><Relationship Type="http://schemas.openxmlformats.org/officeDocument/2006/relationships/notesMaster" Target="/ppt/notesMasters/notesMaster1.xml" Id="Rfb127b5417fd4c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b553bc616742cf" /><Relationship Type="http://schemas.openxmlformats.org/officeDocument/2006/relationships/notesMaster" Target="/ppt/notesMasters/notesMaster1.xml" Id="R38a2938c35494e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77e8032613498a" /><Relationship Type="http://schemas.openxmlformats.org/officeDocument/2006/relationships/notesMaster" Target="/ppt/notesMasters/notesMaster1.xml" Id="R4fb22924a7c74d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cabf76d74c459a" /><Relationship Type="http://schemas.openxmlformats.org/officeDocument/2006/relationships/notesMaster" Target="/ppt/notesMasters/notesMaster1.xml" Id="R2dea4192499845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6e15ad43894d72" /><Relationship Type="http://schemas.openxmlformats.org/officeDocument/2006/relationships/notesMaster" Target="/ppt/notesMasters/notesMaster1.xml" Id="Rb183176c63de40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278c2ec505461c" /><Relationship Type="http://schemas.openxmlformats.org/officeDocument/2006/relationships/notesMaster" Target="/ppt/notesMasters/notesMaster1.xml" Id="R7284c93331a240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if survival were random in this passenger sample, would outcomes look the same across groups? The image shows Titanic at Southampton before its maiden voyage. Image source: Wikimedia Commons, “RMS Titanic in Southampton, April 9th of 1912,” CC0 / public domain, https://commons.wikimedia.org/wiki/File:RMS_Titanic_in_Southampton,_April_9th_of_1912.jpg.</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Kaggle training file has 891 rows and 12 columns. 342 rows have Survived=1 (38.4%); 549 have Survived=0. Frame the sample carefully: outcomes are supplied only for the training subset.</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file contains 891 rows and 12 columns. Missing values: Cabin 687; Age 177; Embarked 2. No exact duplicate records were found. The cabin field is too incomplete for a broad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data handling rather than implying that every field was cleaned and made complete. The analysis does not impute age or cabin; it uses available values for each relevant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Women: 233/314 = 74.2%. Men: 109/577 = 18.9%. The field in this dataset is Sex and contains female/male categories. These are sample associations, not a causal estimate.</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class: 136/216 (63.0%); second class: 87/184 (47.3%); third class: 119/491 (24.2%). Ticket class and survival are associated in this file. Do not read ticket class as a direct measure of every passenger's resources or access.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 is missing for 177 passengers; all age-band rates therefore use n=714. Age bands: 0–12, 13–18, 19–40, and 41+. Mean age was 28.3 among recorded survivors (n=290) and 30.6 among non-survivors (n=424). The age-band boundaries are descriptive choices, not historical categories.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Chi-square test of independence on the 3 × 2 Pclass by Survived contingency table: χ²(2)=102.889, p=4.549e-23. Null hypothesis: passenger class and recorded survival are independent. The test rejects independence in this sample. The result is associational and does not identify the causal mechanism. Expected cell counts exceed 5.</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1st class: women 96.8% (n=94); men 36.9% (n=122).</a:t>
            </a:r>
          </a:p>
          <a:p xmlns:a="http://schemas.openxmlformats.org/drawingml/2006/main">
            <a:r>
              <a:t>2nd class: women 92.1% (n=76); men 15.7% (n=108).</a:t>
            </a:r>
          </a:p>
          <a:p xmlns:a="http://schemas.openxmlformats.org/drawingml/2006/main">
            <a:r>
              <a:t>3rd class: women 50.0% (n=144); men 13.5% (n=347). The within-class pattern is descriptive; it does not adjust for age, family structure, cabin location, or other factors.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measured language: recorded survival was uneven across groups in this training file, especially by sex and passenger class. The data do not include the complete manifest or the full sequence of rescue decisions, and the exploratory comparisons do not establish causation.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descriptions follow Kaggle’s competition data page. The analyzed file has 12 fields: PassengerId, Survived, Pclass, Name, Sex, Age, SibSp, Parch, Ticket, Fare, Cabin, Embarked.</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 observed records. Age n=714; fare n=891. Variance uses the sample denominator (n−1); standard deviation is its square root; coefficient of variation is SD / mean × 100. The mode shown is the most frequent observed value (smallest value if tied). Pairwise sample covariance for age and fare uses 714 complete pairs. Covariance is scale-dependent and does not establish a relationship by itself.</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Kaggle Titanic competition, https://www.kaggle.com/competitions/titanic/data. Cover image: Wikimedia Commons, “RMS Titanic in Southampton, April 9th of 1912,” https://commons.wikimedia.org/wiki/File:RMS_Titanic_in_Southampton,_April_9th_of_1912.jpg, CC0 / public domain. The uploaded file used here is a public mirror of Kaggle's standard training CSV; values are computed from the standard 891-row training sample. The dataset is historical, incomplete, observational, and not a causal record of rescue decisions.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1a5331da9344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99cb7669324132" /><Relationship Type="http://schemas.openxmlformats.org/officeDocument/2006/relationships/slideLayout" Target="/ppt/slideLayouts/slideLayout1.xml" Id="Rd24531f5eca54d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4531f5eca54d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337001b4a74f80" /><Relationship Type="http://schemas.openxmlformats.org/officeDocument/2006/relationships/image" Target="/ppt/media/image.jpeg" Id="R5012177c9675439d" /><Relationship Type="http://schemas.openxmlformats.org/officeDocument/2006/relationships/notesSlide" Target="/ppt/notesSlides/notesSlide1.xml" Id="R698c4e2d30d145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b773b892304b42" /><Relationship Type="http://schemas.openxmlformats.org/officeDocument/2006/relationships/chart" Target="/ppt/slides/charts/chart1.xml" Id="R9bcad1a5abd44015" /><Relationship Type="http://schemas.openxmlformats.org/officeDocument/2006/relationships/notesSlide" Target="/ppt/notesSlides/notesSlide2.xml" Id="R8c9c6f8864cf43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4b85988c514453" /><Relationship Type="http://schemas.openxmlformats.org/officeDocument/2006/relationships/chart" Target="/ppt/slides/charts/chart2.xml" Id="R64227ae57b764c2c" /><Relationship Type="http://schemas.openxmlformats.org/officeDocument/2006/relationships/notesSlide" Target="/ppt/notesSlides/notesSlide3.xml" Id="Rc613b4af607d4b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645d2f48d64c35" /><Relationship Type="http://schemas.openxmlformats.org/officeDocument/2006/relationships/notesSlide" Target="/ppt/notesSlides/notesSlide4.xml" Id="R704c6cbbf48746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7d7ef0df694fa7" /><Relationship Type="http://schemas.openxmlformats.org/officeDocument/2006/relationships/chart" Target="/ppt/slides/charts/chart3.xml" Id="Raef73d4392f54d0a" /><Relationship Type="http://schemas.openxmlformats.org/officeDocument/2006/relationships/notesSlide" Target="/ppt/notesSlides/notesSlide5.xml" Id="R76897980acf743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a0eff37ab14331" /><Relationship Type="http://schemas.openxmlformats.org/officeDocument/2006/relationships/chart" Target="/ppt/slides/charts/chart4.xml" Id="R373a9c486093462a" /><Relationship Type="http://schemas.openxmlformats.org/officeDocument/2006/relationships/notesSlide" Target="/ppt/notesSlides/notesSlide6.xml" Id="R5ba21c6cebef40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572e59bf534687" /><Relationship Type="http://schemas.openxmlformats.org/officeDocument/2006/relationships/chart" Target="/ppt/slides/charts/chart5.xml" Id="R3709f3d0fbe54e7e" /><Relationship Type="http://schemas.openxmlformats.org/officeDocument/2006/relationships/notesSlide" Target="/ppt/notesSlides/notesSlide7.xml" Id="R383f395559da4b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9c0eb1f39043ed" /><Relationship Type="http://schemas.openxmlformats.org/officeDocument/2006/relationships/notesSlide" Target="/ppt/notesSlides/notesSlide8.xml" Id="Rf47e7b9fec2c41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00aa3ff8614c59" /><Relationship Type="http://schemas.openxmlformats.org/officeDocument/2006/relationships/chart" Target="/ppt/slides/charts/chart6.xml" Id="R3dacb68bb9444d01" /><Relationship Type="http://schemas.openxmlformats.org/officeDocument/2006/relationships/notesSlide" Target="/ppt/notesSlides/notesSlide9.xml" Id="Rd9a9f45cfdc24e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bcbe3be12d4f88" /><Relationship Type="http://schemas.openxmlformats.org/officeDocument/2006/relationships/notesSlide" Target="/ppt/notesSlides/notesSlide10.xml" Id="R54bde508df5847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765a17ca264ef7" /><Relationship Type="http://schemas.openxmlformats.org/officeDocument/2006/relationships/notesSlide" Target="/ppt/notesSlides/notesSlide11.xml" Id="R9c2112687b7e47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65f1e15f44f44db" /><Relationship Type="http://schemas.openxmlformats.org/officeDocument/2006/relationships/notesSlide" Target="/ppt/notesSlides/notesSlide12.xml" Id="Re7a7fd64403e49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641237eec654825" /><Relationship Type="http://schemas.openxmlformats.org/officeDocument/2006/relationships/notesSlide" Target="/ppt/notesSlides/notesSlide13.xml" Id="R4bef502e4ad246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Passengers</c:v>
          </c:tx>
          <c:dPt>
            <c:idx val="0"/>
            <c:spPr>
              <a:solidFill xmlns:a="http://schemas.openxmlformats.org/drawingml/2006/main">
                <a:srgbClr val="A7444B"/>
              </a:solidFill>
            </c:spPr>
          </c:dPt>
          <c:dPt>
            <c:idx val="1"/>
            <c:spPr>
              <a:solidFill xmlns:a="http://schemas.openxmlformats.org/drawingml/2006/main">
                <a:srgbClr val="142637"/>
              </a:solidFill>
            </c:spPr>
          </c:dPt>
          <c:cat>
            <c:strRef>
              <c:f>'Chart Data'!$A$2:$A$3</c:f>
              <c:strCache>
                <c:ptCount val="2"/>
                <c:pt idx="0">
                  <c:v>Survived</c:v>
                </c:pt>
                <c:pt idx="1">
                  <c:v>Did not survive</c:v>
                </c:pt>
              </c:strCache>
            </c:strRef>
          </c:cat>
          <c:val>
            <c:numRef>
              <c:f>'Chart Data'!$B$2:$B$3</c:f>
              <c:numCache>
                <c:formatCode>General</c:formatCode>
                <c:ptCount val="2"/>
                <c:pt idx="0">
                  <c:v>342</c:v>
                </c:pt>
                <c:pt idx="1">
                  <c:v>549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holeSize val="66"/>
      </c:doughnutChart>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Missing records</c:v>
          </c:tx>
          <c:dPt>
            <c:idx val="0"/>
            <c:invertIfNegative val="0"/>
            <c:spPr>
              <a:solidFill xmlns:a="http://schemas.openxmlformats.org/drawingml/2006/main">
                <a:srgbClr val="142637"/>
              </a:solidFill>
            </c:spPr>
          </c:dPt>
          <c:dPt>
            <c:idx val="1"/>
            <c:invertIfNegative val="0"/>
            <c:spPr>
              <a:solidFill xmlns:a="http://schemas.openxmlformats.org/drawingml/2006/main">
                <a:srgbClr val="C3A06A"/>
              </a:solidFill>
            </c:spPr>
          </c:dPt>
          <c:dPt>
            <c:idx val="2"/>
            <c:invertIfNegative val="0"/>
            <c:spPr>
              <a:solidFill xmlns:a="http://schemas.openxmlformats.org/drawingml/2006/main">
                <a:srgbClr val="A7444B"/>
              </a:solidFill>
            </c:spPr>
          </c:dPt>
          <c:cat>
            <c:strRef>
              <c:f>'Chart Data'!$A$2:$A$4</c:f>
              <c:strCache>
                <c:ptCount val="3"/>
                <c:pt idx="0">
                  <c:v>Cabin</c:v>
                </c:pt>
                <c:pt idx="1">
                  <c:v>Age</c:v>
                </c:pt>
                <c:pt idx="2">
                  <c:v>Embarked</c:v>
                </c:pt>
              </c:strCache>
            </c:strRef>
          </c:cat>
          <c:val>
            <c:numRef>
              <c:f>'Chart Data'!$B$2:$B$4</c:f>
              <c:numCache>
                <c:formatCode>General</c:formatCode>
                <c:ptCount val="3"/>
                <c:pt idx="0">
                  <c:v>687</c:v>
                </c:pt>
                <c:pt idx="1">
                  <c:v>177</c:v>
                </c:pt>
                <c:pt idx="2">
                  <c:v>2</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192A36"/>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A7444B"/>
              </a:solidFill>
            </c:spPr>
          </c:dPt>
          <c:dPt>
            <c:idx val="1"/>
            <c:invertIfNegative val="0"/>
            <c:spPr>
              <a:solidFill xmlns:a="http://schemas.openxmlformats.org/drawingml/2006/main">
                <a:srgbClr val="142637"/>
              </a:solidFill>
            </c:spPr>
          </c:dPt>
          <c:cat>
            <c:strRef>
              <c:f>'Chart Data'!$A$2:$A$3</c:f>
              <c:strCache>
                <c:ptCount val="2"/>
                <c:pt idx="0">
                  <c:v>Women</c:v>
                </c:pt>
                <c:pt idx="1">
                  <c:v>Men</c:v>
                </c:pt>
              </c:strCache>
            </c:strRef>
          </c:cat>
          <c:val>
            <c:numRef>
              <c:f>'Chart Data'!$B$2:$B$3</c:f>
              <c:numCache>
                <c:formatCode>0%</c:formatCode>
                <c:ptCount val="2"/>
                <c:pt idx="0">
                  <c:v>0.742038</c:v>
                </c:pt>
                <c:pt idx="1">
                  <c:v>0.188908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A7444B"/>
              </a:solidFill>
            </c:spPr>
          </c:dPt>
          <c:cat>
            <c:strRef>
              <c:f>'Chart Data'!$A$2:$A$4</c:f>
              <c:strCache>
                <c:ptCount val="3"/>
                <c:pt idx="0">
                  <c:v>1st class</c:v>
                </c:pt>
                <c:pt idx="1">
                  <c:v>2nd class</c:v>
                </c:pt>
                <c:pt idx="2">
                  <c:v>3rd class</c:v>
                </c:pt>
              </c:strCache>
            </c:strRef>
          </c:cat>
          <c:val>
            <c:numRef>
              <c:f>'Chart Data'!$B$2:$B$4</c:f>
              <c:numCache>
                <c:formatCode>0%</c:formatCode>
                <c:ptCount val="3"/>
                <c:pt idx="0">
                  <c:v>0.62963</c:v>
                </c:pt>
                <c:pt idx="1">
                  <c:v>0.472826</c:v>
                </c:pt>
                <c:pt idx="2">
                  <c:v>0.242363</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142637"/>
              </a:solidFill>
            </c:spPr>
          </c:dPt>
          <c:dPt>
            <c:idx val="3"/>
            <c:invertIfNegative val="0"/>
            <c:spPr>
              <a:solidFill xmlns:a="http://schemas.openxmlformats.org/drawingml/2006/main">
                <a:srgbClr val="A7444B"/>
              </a:solidFill>
            </c:spPr>
          </c:dPt>
          <c:cat>
            <c:strRef>
              <c:f>'Chart Data'!$A$2:$A$5</c:f>
              <c:strCache>
                <c:ptCount val="4"/>
                <c:pt idx="0">
                  <c:v>0–12</c:v>
                </c:pt>
                <c:pt idx="1">
                  <c:v>13–18</c:v>
                </c:pt>
                <c:pt idx="2">
                  <c:v>19–40</c:v>
                </c:pt>
                <c:pt idx="3">
                  <c:v>41+</c:v>
                </c:pt>
              </c:strCache>
            </c:strRef>
          </c:cat>
          <c:val>
            <c:numRef>
              <c:f>'Chart Data'!$B$2:$B$5</c:f>
              <c:numCache>
                <c:formatCode>0%</c:formatCode>
                <c:ptCount val="4"/>
                <c:pt idx="0">
                  <c:v>0.57971</c:v>
                </c:pt>
                <c:pt idx="1">
                  <c:v>0.428571</c:v>
                </c:pt>
                <c:pt idx="2">
                  <c:v>0.388235</c:v>
                </c:pt>
                <c:pt idx="3">
                  <c:v>0.371622</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Women</c:v>
          </c:tx>
          <c:spPr>
            <a:solidFill xmlns:a="http://schemas.openxmlformats.org/drawingml/2006/main">
              <a:srgbClr val="A7444B"/>
            </a:solidFill>
          </c:spPr>
          <c:cat>
            <c:strRef>
              <c:f>'Chart Data'!$A$2:$A$4</c:f>
              <c:strCache>
                <c:ptCount val="3"/>
                <c:pt idx="0">
                  <c:v>1st class</c:v>
                </c:pt>
                <c:pt idx="1">
                  <c:v>2nd class</c:v>
                </c:pt>
                <c:pt idx="2">
                  <c:v>3rd class</c:v>
                </c:pt>
              </c:strCache>
            </c:strRef>
          </c:cat>
          <c:val>
            <c:numRef>
              <c:f>'Chart Data'!$B$2:$B$4</c:f>
              <c:numCache>
                <c:formatCode>0%</c:formatCode>
                <c:ptCount val="3"/>
                <c:pt idx="0">
                  <c:v>0.968085</c:v>
                </c:pt>
                <c:pt idx="1">
                  <c:v>0.921053</c:v>
                </c:pt>
                <c:pt idx="2">
                  <c:v>0.5</c:v>
                </c:pt>
              </c:numCache>
            </c:numRef>
          </c:val>
        </c:ser>
        <c:ser>
          <c:idx val="1"/>
          <c:order val="1"/>
          <c:tx>
            <c:v>Men</c:v>
          </c:tx>
          <c:spPr>
            <a:solidFill xmlns:a="http://schemas.openxmlformats.org/drawingml/2006/main">
              <a:srgbClr val="142637"/>
            </a:solidFill>
          </c:spPr>
          <c:cat>
            <c:strRef>
              <c:f>'Chart Data'!$C$2:$C$4</c:f>
              <c:strCache>
                <c:ptCount val="3"/>
                <c:pt idx="0">
                  <c:v>1st class</c:v>
                </c:pt>
                <c:pt idx="1">
                  <c:v>2nd class</c:v>
                </c:pt>
                <c:pt idx="2">
                  <c:v>3rd class</c:v>
                </c:pt>
              </c:strCache>
            </c:strRef>
          </c:cat>
          <c:val>
            <c:numRef>
              <c:f>'Chart Data'!$D$2:$D$4</c:f>
              <c:numCache>
                <c:formatCode>0%</c:formatCode>
                <c:ptCount val="3"/>
                <c:pt idx="0">
                  <c:v>0.368852</c:v>
                </c:pt>
                <c:pt idx="1">
                  <c:v>0.157407</c:v>
                </c:pt>
                <c:pt idx="2">
                  <c:v>0.135447</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012177c9675439d"/>
          <a:srcRect xmlns:a="http://schemas.openxmlformats.org/drawingml/2006/main" l="24492" t="0" r="24492" b="0"/>
          <a:stretch xmlns:a="http://schemas.openxmlformats.org/drawingml/2006/main">
            <a:fillRect l="0" t="0" r="0" b="0"/>
          </a:stretch>
        </p:blipFill>
        <p:spPr>
          <a:xfrm xmlns:a="http://schemas.openxmlformats.org/drawingml/2006/main">
            <a:off x="6172200" y="0"/>
            <a:ext cx="60198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03F6A6-1248-4113-A860-0B370C946111}"/>
              </a:ext>
            </a:extLst>
          </p:cNvPr>
          <p:cNvSpPr>
            <a:spLocks xmlns:a="http://schemas.openxmlformats.org/drawingml/2006/main" noGrp="1"/>
          </p:cNvSpPr>
          <p:nvPr/>
        </p:nvSpPr>
        <p:spPr>
          <a:xfrm xmlns:a="http://schemas.openxmlformats.org/drawingml/2006/main">
            <a:off x="685800" y="1285875"/>
            <a:ext cx="55245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9869FA9F-225E-407A-97D9-E7D715138599}"/>
              </a:ext>
            </a:extLst>
          </p:cNvPr>
          <p:cNvSpPr>
            <a:spLocks xmlns:a="http://schemas.openxmlformats.org/drawingml/2006/main" noGrp="1"/>
          </p:cNvSpPr>
          <p:nvPr/>
        </p:nvSpPr>
        <p:spPr>
          <a:xfrm xmlns:a="http://schemas.openxmlformats.org/drawingml/2006/main">
            <a:off x="685800" y="16954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CAN DATA</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PREDICT HUMAN</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FATE?</a:t>
            </a:r>
          </a:p>
        </p:txBody>
      </p:sp>
      <p:sp>
        <p:nvSpPr>
          <p:cNvPr id="4" name="cover-subtitle">
            <a:extLst xmlns:a="http://schemas.openxmlformats.org/drawingml/2006/main">
              <a:ext uri="{FF2B5EF4-FFF2-40B4-BE49-F238E27FC236}">
                <a16:creationId xmlns:a16="http://schemas.microsoft.com/office/drawing/2014/main" id="{56E3C6A2-3484-41E7-B468-03FDE776066A}"/>
              </a:ext>
            </a:extLst>
          </p:cNvPr>
          <p:cNvSpPr>
            <a:spLocks xmlns:a="http://schemas.openxmlformats.org/drawingml/2006/main" noGrp="1"/>
          </p:cNvSpPr>
          <p:nvPr/>
        </p:nvSpPr>
        <p:spPr>
          <a:xfrm xmlns:a="http://schemas.openxmlformats.org/drawingml/2006/main">
            <a:off x="723900" y="4238625"/>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D4DCE1"/>
                </a:solidFill>
                <a:latin typeface="Arial"/>
                <a:ea typeface="Arial"/>
                <a:cs typeface="Arial"/>
              </a:defRPr>
            </a:pPr>
            <a:r>
              <a:rPr sz="1875" b="0">
                <a:solidFill>
                  <a:srgbClr val="D4DCE1"/>
                </a:solidFill>
                <a:latin typeface="Arial"/>
                <a:ea typeface="Arial"/>
                <a:cs typeface="Arial"/>
              </a:rPr>
              <a:t>A survival investigation in the Titanic training data</a:t>
            </a:r>
          </a:p>
        </p:txBody>
      </p:sp>
      <p:sp>
        <p:nvSpPr>
          <p:cNvPr id="5" name="">
            <a:extLst xmlns:a="http://schemas.openxmlformats.org/drawingml/2006/main">
              <a:ext uri="{FF2B5EF4-FFF2-40B4-BE49-F238E27FC236}">
                <a16:creationId xmlns:a16="http://schemas.microsoft.com/office/drawing/2014/main" id="{A84304DE-62E5-4D48-B32C-A1FCB4094344}"/>
              </a:ext>
            </a:extLst>
          </p:cNvPr>
          <p:cNvSpPr>
            <a:spLocks xmlns:a="http://schemas.openxmlformats.org/drawingml/2006/main" noGrp="1"/>
          </p:cNvSpPr>
          <p:nvPr/>
        </p:nvSpPr>
        <p:spPr>
          <a:xfrm xmlns:a="http://schemas.openxmlformats.org/drawingml/2006/main">
            <a:off x="723900" y="5895975"/>
            <a:ext cx="481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3A06A"/>
                </a:solidFill>
                <a:latin typeface="Arial"/>
                <a:ea typeface="Arial"/>
                <a:cs typeface="Arial"/>
              </a:defRPr>
            </a:pPr>
            <a:r>
              <a:rPr sz="1125" b="1">
                <a:solidFill>
                  <a:srgbClr val="C3A06A"/>
                </a:solidFill>
                <a:latin typeface="Arial"/>
                <a:ea typeface="Arial"/>
                <a:cs typeface="Arial"/>
              </a:rPr>
              <a:t>EXPLORATORY DATA ANALYSIS  ·  1912 / KAGGLE</a:t>
            </a:r>
          </a:p>
        </p:txBody>
      </p:sp>
      <p:sp>
        <p:nvSpPr>
          <p:cNvPr id="6" name="">
            <a:extLst xmlns:a="http://schemas.openxmlformats.org/drawingml/2006/main">
              <a:ext uri="{FF2B5EF4-FFF2-40B4-BE49-F238E27FC236}">
                <a16:creationId xmlns:a16="http://schemas.microsoft.com/office/drawing/2014/main" id="{F180283A-D9BE-46EC-9202-F91C02EB5354}"/>
              </a:ext>
            </a:extLst>
          </p:cNvPr>
          <p:cNvSpPr>
            <a:spLocks xmlns:a="http://schemas.openxmlformats.org/drawingml/2006/main" noGrp="1"/>
          </p:cNvSpPr>
          <p:nvPr/>
        </p:nvSpPr>
        <p:spPr>
          <a:xfrm xmlns:a="http://schemas.openxmlformats.org/drawingml/2006/main">
            <a:off x="5524500" y="63817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01</a:t>
            </a:r>
          </a:p>
        </p:txBody>
      </p:sp>
    </p:spTree>
    <p:extLst>
      <p:ext uri="{BB962C8B-B14F-4D97-AF65-F5344CB8AC3E}">
        <p14:creationId xmlns:p14="http://schemas.microsoft.com/office/powerpoint/2010/main" val="1918235955"/>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2FFF26F6-579D-46A6-9B35-0A6B5DDBF55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891 passenger records, one stark outcome</a:t>
            </a:r>
          </a:p>
        </p:txBody>
      </p:sp>
      <p:sp>
        <p:nvSpPr>
          <p:cNvPr id="2" name="slide-subtitle">
            <a:extLst xmlns:a="http://schemas.openxmlformats.org/drawingml/2006/main">
              <a:ext uri="{FF2B5EF4-FFF2-40B4-BE49-F238E27FC236}">
                <a16:creationId xmlns:a16="http://schemas.microsoft.com/office/drawing/2014/main" id="{6712E76B-4098-42CB-AAC3-1A2CEE5D9E78}"/>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training file records 342 survivors and 549 non-survivors.</a:t>
            </a:r>
          </a:p>
        </p:txBody>
      </p:sp>
      <p:sp>
        <p:nvSpPr>
          <p:cNvPr id="3" name="">
            <a:extLst xmlns:a="http://schemas.openxmlformats.org/drawingml/2006/main">
              <a:ext uri="{FF2B5EF4-FFF2-40B4-BE49-F238E27FC236}">
                <a16:creationId xmlns:a16="http://schemas.microsoft.com/office/drawing/2014/main" id="{ABCF90F4-6736-47E0-8A4B-A4AD57B1BD27}"/>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552319A4-19F4-4EEB-8326-9BD7F27D788B}"/>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FB4A05F2-0106-454E-BE1F-22632DA60FDD}"/>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05CBE7E-D5B8-404D-9241-A86ECBACEF95}"/>
              </a:ext>
            </a:extLst>
          </p:cNvPr>
          <p:cNvSpPr>
            <a:spLocks xmlns:a="http://schemas.openxmlformats.org/drawingml/2006/main" noGrp="1"/>
          </p:cNvSpPr>
          <p:nvPr/>
        </p:nvSpPr>
        <p:spPr>
          <a:xfrm xmlns:a="http://schemas.openxmlformats.org/drawingml/2006/main">
            <a:off x="781050" y="2114550"/>
            <a:ext cx="3524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75" b="1">
                <a:solidFill>
                  <a:srgbClr val="A7444B"/>
                </a:solidFill>
                <a:latin typeface="Arial"/>
                <a:ea typeface="Arial"/>
                <a:cs typeface="Arial"/>
              </a:defRPr>
            </a:pPr>
            <a:r>
              <a:rPr sz="7875" b="1">
                <a:solidFill>
                  <a:srgbClr val="A7444B"/>
                </a:solidFill>
                <a:latin typeface="Arial"/>
                <a:ea typeface="Arial"/>
                <a:cs typeface="Arial"/>
              </a:rPr>
              <a:t>38.4%</a:t>
            </a:r>
          </a:p>
        </p:txBody>
      </p:sp>
      <p:sp>
        <p:nvSpPr>
          <p:cNvPr id="7" name="">
            <a:extLst xmlns:a="http://schemas.openxmlformats.org/drawingml/2006/main">
              <a:ext uri="{FF2B5EF4-FFF2-40B4-BE49-F238E27FC236}">
                <a16:creationId xmlns:a16="http://schemas.microsoft.com/office/drawing/2014/main" id="{A55451B9-D782-4F55-A255-7F05A80A44D6}"/>
              </a:ext>
            </a:extLst>
          </p:cNvPr>
          <p:cNvSpPr>
            <a:spLocks xmlns:a="http://schemas.openxmlformats.org/drawingml/2006/main" noGrp="1"/>
          </p:cNvSpPr>
          <p:nvPr/>
        </p:nvSpPr>
        <p:spPr>
          <a:xfrm xmlns:a="http://schemas.openxmlformats.org/drawingml/2006/main">
            <a:off x="876300" y="3400425"/>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92A36"/>
                </a:solidFill>
                <a:latin typeface="Arial"/>
                <a:ea typeface="Arial"/>
                <a:cs typeface="Arial"/>
              </a:defRPr>
            </a:pPr>
            <a:r>
              <a:rPr sz="1950" b="1">
                <a:solidFill>
                  <a:srgbClr val="192A36"/>
                </a:solidFill>
                <a:latin typeface="Arial"/>
                <a:ea typeface="Arial"/>
                <a:cs typeface="Arial"/>
              </a:rPr>
              <a:t>recorded as survived</a:t>
            </a:r>
          </a:p>
        </p:txBody>
      </p:sp>
      <p:sp>
        <p:nvSpPr>
          <p:cNvPr id="8" name="">
            <a:extLst xmlns:a="http://schemas.openxmlformats.org/drawingml/2006/main">
              <a:ext uri="{FF2B5EF4-FFF2-40B4-BE49-F238E27FC236}">
                <a16:creationId xmlns:a16="http://schemas.microsoft.com/office/drawing/2014/main" id="{B8A1C020-BE0C-486D-923B-D6FFF32BD6E3}"/>
              </a:ext>
            </a:extLst>
          </p:cNvPr>
          <p:cNvSpPr>
            <a:spLocks xmlns:a="http://schemas.openxmlformats.org/drawingml/2006/main" noGrp="1"/>
          </p:cNvSpPr>
          <p:nvPr/>
        </p:nvSpPr>
        <p:spPr>
          <a:xfrm xmlns:a="http://schemas.openxmlformats.org/drawingml/2006/main">
            <a:off x="876300" y="409575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The file is a subset of passengers with known outcomes, not a full manifest.</a:t>
            </a:r>
          </a:p>
        </p:txBody>
      </p:sp>
      <p:graphicFrame>
        <p:nvGraphicFramePr>
          <p:cNvPr id="19" name="Chart"/>
          <p:cNvGraphicFramePr/>
          <p:nvPr/>
        </p:nvGraphicFramePr>
        <p:xfrm>
          <a:off xmlns:a="http://schemas.openxmlformats.org/drawingml/2006/main" x="5381625" y="1952625"/>
          <a:ext xmlns:a="http://schemas.openxmlformats.org/drawingml/2006/main" cx="5619750" cy="3667125"/>
        </p:xfrm>
        <a:graphic xmlns:a="http://schemas.openxmlformats.org/drawingml/2006/main">
          <a:graphicData uri="http://schemas.openxmlformats.org/drawingml/2006/chart">
            <c:chart xmlns:r="http://schemas.openxmlformats.org/officeDocument/2006/relationships" xmlns:c="http://schemas.openxmlformats.org/drawingml/2006/chart" r:id="R9bcad1a5abd44015"/>
          </a:graphicData>
        </a:graphic>
      </p:graphicFrame>
      <p:sp>
        <p:nvSpPr>
          <p:cNvPr id="10" name="">
            <a:extLst xmlns:a="http://schemas.openxmlformats.org/drawingml/2006/main">
              <a:ext uri="{FF2B5EF4-FFF2-40B4-BE49-F238E27FC236}">
                <a16:creationId xmlns:a16="http://schemas.microsoft.com/office/drawing/2014/main" id="{FF08CC6D-4560-43DF-B88F-3EC0DE50393A}"/>
              </a:ext>
            </a:extLst>
          </p:cNvPr>
          <p:cNvSpPr>
            <a:spLocks xmlns:a="http://schemas.openxmlformats.org/drawingml/2006/main" noGrp="1"/>
          </p:cNvSpPr>
          <p:nvPr/>
        </p:nvSpPr>
        <p:spPr>
          <a:xfrm xmlns:a="http://schemas.openxmlformats.org/drawingml/2006/main">
            <a:off x="7534275" y="3429000"/>
            <a:ext cx="1314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925" b="1">
                <a:solidFill>
                  <a:srgbClr val="A7444B"/>
                </a:solidFill>
                <a:latin typeface="Arial"/>
                <a:ea typeface="Arial"/>
                <a:cs typeface="Arial"/>
              </a:defRPr>
            </a:pPr>
            <a:r>
              <a:rPr sz="2925" b="1">
                <a:solidFill>
                  <a:srgbClr val="A7444B"/>
                </a:solidFill>
                <a:latin typeface="Arial"/>
                <a:ea typeface="Arial"/>
                <a:cs typeface="Arial"/>
              </a:rPr>
              <a:t>38.4%</a:t>
            </a:r>
          </a:p>
        </p:txBody>
      </p:sp>
    </p:spTree>
    <p:extLst>
      <p:ext uri="{BB962C8B-B14F-4D97-AF65-F5344CB8AC3E}">
        <p14:creationId xmlns:p14="http://schemas.microsoft.com/office/powerpoint/2010/main" val="2119554771"/>
      </p:ext>
    </p:extLst>
  </p:cSld>
</p:sld>
</file>

<file path=ppt/slides/slide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1C9CF14-5FE5-4B72-A109-04C81755EC24}"/>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Before the clues: inspect the gaps</a:t>
            </a:r>
          </a:p>
        </p:txBody>
      </p:sp>
      <p:sp>
        <p:nvSpPr>
          <p:cNvPr id="2" name="slide-subtitle">
            <a:extLst xmlns:a="http://schemas.openxmlformats.org/drawingml/2006/main">
              <a:ext uri="{FF2B5EF4-FFF2-40B4-BE49-F238E27FC236}">
                <a16:creationId xmlns:a16="http://schemas.microsoft.com/office/drawing/2014/main" id="{E1E0135B-290D-4740-982D-7BDEC3BD5258}"/>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Most missingness is concentrated in cabin identifiers.</a:t>
            </a:r>
          </a:p>
        </p:txBody>
      </p:sp>
      <p:sp>
        <p:nvSpPr>
          <p:cNvPr id="3" name="">
            <a:extLst xmlns:a="http://schemas.openxmlformats.org/drawingml/2006/main">
              <a:ext uri="{FF2B5EF4-FFF2-40B4-BE49-F238E27FC236}">
                <a16:creationId xmlns:a16="http://schemas.microsoft.com/office/drawing/2014/main" id="{1C2AF94F-4842-4F78-97CE-5B7A9C162017}"/>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EC6BC0A5-8D21-4F29-B4F3-436954CCC994}"/>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8484EB55-49F9-499F-9FC1-38C2CED27FD2}"/>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985BE355-C396-44F3-91FF-5598510FBD8F}"/>
              </a:ext>
            </a:extLst>
          </p:cNvPr>
          <p:cNvSpPr>
            <a:spLocks xmlns:a="http://schemas.openxmlformats.org/drawingml/2006/main" noGrp="1"/>
          </p:cNvSpPr>
          <p:nvPr/>
        </p:nvSpPr>
        <p:spPr>
          <a:xfrm xmlns:a="http://schemas.openxmlformats.org/drawingml/2006/main">
            <a:off x="800100" y="1828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MISSING VALUES</a:t>
            </a:r>
          </a:p>
        </p:txBody>
      </p:sp>
      <p:graphicFrame>
        <p:nvGraphicFramePr>
          <p:cNvPr id="17" name="Chart"/>
          <p:cNvGraphicFramePr/>
          <p:nvPr/>
        </p:nvGraphicFramePr>
        <p:xfrm>
          <a:off xmlns:a="http://schemas.openxmlformats.org/drawingml/2006/main" x="809625" y="215265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64227ae57b764c2c"/>
          </a:graphicData>
        </a:graphic>
      </p:graphicFrame>
      <p:sp>
        <p:nvSpPr>
          <p:cNvPr id="8" name="">
            <a:extLst xmlns:a="http://schemas.openxmlformats.org/drawingml/2006/main">
              <a:ext uri="{FF2B5EF4-FFF2-40B4-BE49-F238E27FC236}">
                <a16:creationId xmlns:a16="http://schemas.microsoft.com/office/drawing/2014/main" id="{D4FD6A82-8578-441D-B1FD-1B6BEF646F8D}"/>
              </a:ext>
            </a:extLst>
          </p:cNvPr>
          <p:cNvSpPr>
            <a:spLocks xmlns:a="http://schemas.openxmlformats.org/drawingml/2006/main" noGrp="1"/>
          </p:cNvSpPr>
          <p:nvPr/>
        </p:nvSpPr>
        <p:spPr>
          <a:xfrm xmlns:a="http://schemas.openxmlformats.org/drawingml/2006/main">
            <a:off x="8153400" y="2266950"/>
            <a:ext cx="2286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75" b="1">
                <a:solidFill>
                  <a:srgbClr val="142637"/>
                </a:solidFill>
                <a:latin typeface="Arial"/>
                <a:ea typeface="Arial"/>
                <a:cs typeface="Arial"/>
              </a:defRPr>
            </a:pPr>
            <a:r>
              <a:rPr sz="5175" b="1">
                <a:solidFill>
                  <a:srgbClr val="142637"/>
                </a:solidFill>
                <a:latin typeface="Arial"/>
                <a:ea typeface="Arial"/>
                <a:cs typeface="Arial"/>
              </a:rPr>
              <a:t>687</a:t>
            </a:r>
          </a:p>
        </p:txBody>
      </p:sp>
      <p:sp>
        <p:nvSpPr>
          <p:cNvPr id="9" name="">
            <a:extLst xmlns:a="http://schemas.openxmlformats.org/drawingml/2006/main">
              <a:ext uri="{FF2B5EF4-FFF2-40B4-BE49-F238E27FC236}">
                <a16:creationId xmlns:a16="http://schemas.microsoft.com/office/drawing/2014/main" id="{F0B0FA11-DD9F-4967-A0A8-67F7ED00812A}"/>
              </a:ext>
            </a:extLst>
          </p:cNvPr>
          <p:cNvSpPr>
            <a:spLocks xmlns:a="http://schemas.openxmlformats.org/drawingml/2006/main" noGrp="1"/>
          </p:cNvSpPr>
          <p:nvPr/>
        </p:nvSpPr>
        <p:spPr>
          <a:xfrm xmlns:a="http://schemas.openxmlformats.org/drawingml/2006/main">
            <a:off x="8172450" y="30575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cabin values missing</a:t>
            </a:r>
          </a:p>
        </p:txBody>
      </p:sp>
      <p:sp>
        <p:nvSpPr>
          <p:cNvPr id="10" name="">
            <a:extLst xmlns:a="http://schemas.openxmlformats.org/drawingml/2006/main">
              <a:ext uri="{FF2B5EF4-FFF2-40B4-BE49-F238E27FC236}">
                <a16:creationId xmlns:a16="http://schemas.microsoft.com/office/drawing/2014/main" id="{FFE262E8-6E10-44AE-97E8-855ED908A22E}"/>
              </a:ext>
            </a:extLst>
          </p:cNvPr>
          <p:cNvSpPr>
            <a:spLocks xmlns:a="http://schemas.openxmlformats.org/drawingml/2006/main" noGrp="1"/>
          </p:cNvSpPr>
          <p:nvPr/>
        </p:nvSpPr>
        <p:spPr>
          <a:xfrm xmlns:a="http://schemas.openxmlformats.org/drawingml/2006/main">
            <a:off x="8172450" y="3714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177 ages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2 embarkation values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0 exact duplicate rows</a:t>
            </a:r>
          </a:p>
        </p:txBody>
      </p:sp>
    </p:spTree>
    <p:extLst>
      <p:ext uri="{BB962C8B-B14F-4D97-AF65-F5344CB8AC3E}">
        <p14:creationId xmlns:p14="http://schemas.microsoft.com/office/powerpoint/2010/main" val="1397551293"/>
      </p:ext>
    </p:extLst>
  </p:cSld>
</p:sld>
</file>

<file path=ppt/slides/slide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1DF4DF8D-B9C3-41AD-B85C-70B0A891751A}"/>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Keep the analysis honest</a:t>
            </a:r>
          </a:p>
        </p:txBody>
      </p:sp>
      <p:sp>
        <p:nvSpPr>
          <p:cNvPr id="2" name="slide-subtitle">
            <a:extLst xmlns:a="http://schemas.openxmlformats.org/drawingml/2006/main">
              <a:ext uri="{FF2B5EF4-FFF2-40B4-BE49-F238E27FC236}">
                <a16:creationId xmlns:a16="http://schemas.microsoft.com/office/drawing/2014/main" id="{6191729C-4115-4963-A637-0CA4E27E61D2}"/>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comparison uses the records that contain the fields it needs.</a:t>
            </a:r>
          </a:p>
        </p:txBody>
      </p:sp>
      <p:sp>
        <p:nvSpPr>
          <p:cNvPr id="3" name="">
            <a:extLst xmlns:a="http://schemas.openxmlformats.org/drawingml/2006/main">
              <a:ext uri="{FF2B5EF4-FFF2-40B4-BE49-F238E27FC236}">
                <a16:creationId xmlns:a16="http://schemas.microsoft.com/office/drawing/2014/main" id="{0178DFAF-F863-44A1-B1C8-4C66FA326CEA}"/>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EB054A4-6782-43F6-82D7-F94A491D7A24}"/>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E9DFEF58-839B-43A8-BF7A-EF4E7809180C}"/>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59E3B4FA-E3BF-4198-9848-5B29910F57AF}"/>
              </a:ext>
            </a:extLst>
          </p:cNvPr>
          <p:cNvSpPr>
            <a:spLocks xmlns:a="http://schemas.openxmlformats.org/drawingml/2006/main" noGrp="1"/>
          </p:cNvSpPr>
          <p:nvPr/>
        </p:nvSpPr>
        <p:spPr>
          <a:xfrm xmlns:a="http://schemas.openxmlformats.org/drawingml/2006/main">
            <a:off x="838200" y="198120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73D6B09-BA7D-40F1-8E11-9A7A6D59D926}"/>
              </a:ext>
            </a:extLst>
          </p:cNvPr>
          <p:cNvSpPr>
            <a:spLocks xmlns:a="http://schemas.openxmlformats.org/drawingml/2006/main" noGrp="1"/>
          </p:cNvSpPr>
          <p:nvPr/>
        </p:nvSpPr>
        <p:spPr>
          <a:xfrm xmlns:a="http://schemas.openxmlformats.org/drawingml/2006/main">
            <a:off x="1609725" y="18954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Keep rows for the overall outcome and class counts.</a:t>
            </a:r>
          </a:p>
        </p:txBody>
      </p:sp>
      <p:sp>
        <p:nvSpPr>
          <p:cNvPr id="8" name="">
            <a:extLst xmlns:a="http://schemas.openxmlformats.org/drawingml/2006/main">
              <a:ext uri="{FF2B5EF4-FFF2-40B4-BE49-F238E27FC236}">
                <a16:creationId xmlns:a16="http://schemas.microsoft.com/office/drawing/2014/main" id="{B45D7CB4-464B-4C0C-A1FE-A5F916AC5BAA}"/>
              </a:ext>
            </a:extLst>
          </p:cNvPr>
          <p:cNvSpPr>
            <a:spLocks xmlns:a="http://schemas.openxmlformats.org/drawingml/2006/main" noGrp="1"/>
          </p:cNvSpPr>
          <p:nvPr/>
        </p:nvSpPr>
        <p:spPr>
          <a:xfrm xmlns:a="http://schemas.openxmlformats.org/drawingml/2006/main">
            <a:off x="838200" y="260032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31CD79-D1E8-442F-A41F-E053BC0889E4}"/>
              </a:ext>
            </a:extLst>
          </p:cNvPr>
          <p:cNvSpPr>
            <a:spLocks xmlns:a="http://schemas.openxmlformats.org/drawingml/2006/main" noGrp="1"/>
          </p:cNvSpPr>
          <p:nvPr/>
        </p:nvSpPr>
        <p:spPr>
          <a:xfrm xmlns:a="http://schemas.openxmlformats.org/drawingml/2006/main">
            <a:off x="838200" y="288607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808703FE-9693-4B70-8675-62EDA5D4F8DA}"/>
              </a:ext>
            </a:extLst>
          </p:cNvPr>
          <p:cNvSpPr>
            <a:spLocks xmlns:a="http://schemas.openxmlformats.org/drawingml/2006/main" noGrp="1"/>
          </p:cNvSpPr>
          <p:nvPr/>
        </p:nvSpPr>
        <p:spPr>
          <a:xfrm xmlns:a="http://schemas.openxmlformats.org/drawingml/2006/main">
            <a:off x="1609725" y="280035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Use observed ages only; age comparisons include 714 people.</a:t>
            </a:r>
          </a:p>
        </p:txBody>
      </p:sp>
      <p:sp>
        <p:nvSpPr>
          <p:cNvPr id="11" name="">
            <a:extLst xmlns:a="http://schemas.openxmlformats.org/drawingml/2006/main">
              <a:ext uri="{FF2B5EF4-FFF2-40B4-BE49-F238E27FC236}">
                <a16:creationId xmlns:a16="http://schemas.microsoft.com/office/drawing/2014/main" id="{9EAA8B3B-9296-4913-8471-AE409B7A477D}"/>
              </a:ext>
            </a:extLst>
          </p:cNvPr>
          <p:cNvSpPr>
            <a:spLocks xmlns:a="http://schemas.openxmlformats.org/drawingml/2006/main" noGrp="1"/>
          </p:cNvSpPr>
          <p:nvPr/>
        </p:nvSpPr>
        <p:spPr>
          <a:xfrm xmlns:a="http://schemas.openxmlformats.org/drawingml/2006/main">
            <a:off x="838200" y="350520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B659910-5D33-4E59-B12F-C1709D344362}"/>
              </a:ext>
            </a:extLst>
          </p:cNvPr>
          <p:cNvSpPr>
            <a:spLocks xmlns:a="http://schemas.openxmlformats.org/drawingml/2006/main" noGrp="1"/>
          </p:cNvSpPr>
          <p:nvPr/>
        </p:nvSpPr>
        <p:spPr>
          <a:xfrm xmlns:a="http://schemas.openxmlformats.org/drawingml/2006/main">
            <a:off x="838200" y="378142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47182909-984C-4AA4-AADF-7D32B5A46598}"/>
              </a:ext>
            </a:extLst>
          </p:cNvPr>
          <p:cNvSpPr>
            <a:spLocks xmlns:a="http://schemas.openxmlformats.org/drawingml/2006/main" noGrp="1"/>
          </p:cNvSpPr>
          <p:nvPr/>
        </p:nvSpPr>
        <p:spPr>
          <a:xfrm xmlns:a="http://schemas.openxmlformats.org/drawingml/2006/main">
            <a:off x="1609725" y="3695700"/>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Leave Cabin out of group analysis because 77% is missing.</a:t>
            </a:r>
          </a:p>
        </p:txBody>
      </p:sp>
      <p:sp>
        <p:nvSpPr>
          <p:cNvPr id="14" name="">
            <a:extLst xmlns:a="http://schemas.openxmlformats.org/drawingml/2006/main">
              <a:ext uri="{FF2B5EF4-FFF2-40B4-BE49-F238E27FC236}">
                <a16:creationId xmlns:a16="http://schemas.microsoft.com/office/drawing/2014/main" id="{9924F6F9-AF6E-4171-8D39-077EBB782838}"/>
              </a:ext>
            </a:extLst>
          </p:cNvPr>
          <p:cNvSpPr>
            <a:spLocks xmlns:a="http://schemas.openxmlformats.org/drawingml/2006/main" noGrp="1"/>
          </p:cNvSpPr>
          <p:nvPr/>
        </p:nvSpPr>
        <p:spPr>
          <a:xfrm xmlns:a="http://schemas.openxmlformats.org/drawingml/2006/main">
            <a:off x="838200" y="440055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3FFBDDE-BB84-4662-9FEF-FE9C453357A5}"/>
              </a:ext>
            </a:extLst>
          </p:cNvPr>
          <p:cNvSpPr>
            <a:spLocks xmlns:a="http://schemas.openxmlformats.org/drawingml/2006/main" noGrp="1"/>
          </p:cNvSpPr>
          <p:nvPr/>
        </p:nvSpPr>
        <p:spPr>
          <a:xfrm xmlns:a="http://schemas.openxmlformats.org/drawingml/2006/main">
            <a:off x="1609725" y="476250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No missing values were filled in for the comparisons shown.</a:t>
            </a:r>
          </a:p>
        </p:txBody>
      </p:sp>
    </p:spTree>
    <p:extLst>
      <p:ext uri="{BB962C8B-B14F-4D97-AF65-F5344CB8AC3E}">
        <p14:creationId xmlns:p14="http://schemas.microsoft.com/office/powerpoint/2010/main" val="1993430454"/>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4FA54BAA-E5D3-44A7-ABCB-537C707F001A}"/>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survival gap by recorded sex was large</a:t>
            </a:r>
          </a:p>
        </p:txBody>
      </p:sp>
      <p:sp>
        <p:nvSpPr>
          <p:cNvPr id="2" name="slide-subtitle">
            <a:extLst xmlns:a="http://schemas.openxmlformats.org/drawingml/2006/main">
              <a:ext uri="{FF2B5EF4-FFF2-40B4-BE49-F238E27FC236}">
                <a16:creationId xmlns:a16="http://schemas.microsoft.com/office/drawing/2014/main" id="{D0D5261E-5F16-4F90-B720-27A78B8B7D80}"/>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Observed survival: 233 of 314 women and 109 of 577 men.</a:t>
            </a:r>
          </a:p>
        </p:txBody>
      </p:sp>
      <p:sp>
        <p:nvSpPr>
          <p:cNvPr id="3" name="">
            <a:extLst xmlns:a="http://schemas.openxmlformats.org/drawingml/2006/main">
              <a:ext uri="{FF2B5EF4-FFF2-40B4-BE49-F238E27FC236}">
                <a16:creationId xmlns:a16="http://schemas.microsoft.com/office/drawing/2014/main" id="{B2062EBC-1BDA-4EC9-9760-5728EFC92DEE}"/>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404FF333-C6C9-4D36-8F21-B1C5F309ED8B}"/>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85C2AAA0-F0D8-4F88-BFE6-9F987CD0F73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05</a:t>
            </a:r>
          </a:p>
        </p:txBody>
      </p:sp>
      <p:graphicFrame>
        <p:nvGraphicFramePr>
          <p:cNvPr id="13" name="Chart"/>
          <p:cNvGraphicFramePr/>
          <p:nvPr/>
        </p:nvGraphicFramePr>
        <p:xfrm>
          <a:off xmlns:a="http://schemas.openxmlformats.org/drawingml/2006/main" x="1638300" y="1857375"/>
          <a:ext xmlns:a="http://schemas.openxmlformats.org/drawingml/2006/main" cx="8858250" cy="3714750"/>
        </p:xfrm>
        <a:graphic xmlns:a="http://schemas.openxmlformats.org/drawingml/2006/main">
          <a:graphicData uri="http://schemas.openxmlformats.org/drawingml/2006/chart">
            <c:chart xmlns:r="http://schemas.openxmlformats.org/officeDocument/2006/relationships" xmlns:c="http://schemas.openxmlformats.org/drawingml/2006/chart" r:id="Raef73d4392f54d0a"/>
          </a:graphicData>
        </a:graphic>
      </p:graphicFrame>
      <p:sp>
        <p:nvSpPr>
          <p:cNvPr id="7" name="">
            <a:extLst xmlns:a="http://schemas.openxmlformats.org/drawingml/2006/main">
              <a:ext uri="{FF2B5EF4-FFF2-40B4-BE49-F238E27FC236}">
                <a16:creationId xmlns:a16="http://schemas.microsoft.com/office/drawing/2014/main" id="{AFED2F4D-3255-4672-A8C2-5E99150ECD5D}"/>
              </a:ext>
            </a:extLst>
          </p:cNvPr>
          <p:cNvSpPr>
            <a:spLocks xmlns:a="http://schemas.openxmlformats.org/drawingml/2006/main" noGrp="1"/>
          </p:cNvSpPr>
          <p:nvPr/>
        </p:nvSpPr>
        <p:spPr>
          <a:xfrm xmlns:a="http://schemas.openxmlformats.org/drawingml/2006/main">
            <a:off x="7105650" y="55626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A7444B"/>
                </a:solidFill>
                <a:latin typeface="Arial"/>
                <a:ea typeface="Arial"/>
                <a:cs typeface="Arial"/>
              </a:defRPr>
            </a:pPr>
            <a:r>
              <a:rPr sz="1800" b="1">
                <a:solidFill>
                  <a:srgbClr val="A7444B"/>
                </a:solidFill>
                <a:latin typeface="Arial"/>
                <a:ea typeface="Arial"/>
                <a:cs typeface="Arial"/>
              </a:rPr>
              <a:t>55.3 percentage points</a:t>
            </a:r>
          </a:p>
        </p:txBody>
      </p:sp>
    </p:spTree>
    <p:extLst>
      <p:ext uri="{BB962C8B-B14F-4D97-AF65-F5344CB8AC3E}">
        <p14:creationId xmlns:p14="http://schemas.microsoft.com/office/powerpoint/2010/main" val="1565064176"/>
      </p:ext>
    </p:extLst>
  </p:cSld>
</p:sld>
</file>

<file path=ppt/slides/slide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96CEE662-F619-443B-B07A-1A12A386B66F}"/>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Survival rates fell with ticket class</a:t>
            </a:r>
          </a:p>
        </p:txBody>
      </p:sp>
      <p:sp>
        <p:nvSpPr>
          <p:cNvPr id="2" name="slide-subtitle">
            <a:extLst xmlns:a="http://schemas.openxmlformats.org/drawingml/2006/main">
              <a:ext uri="{FF2B5EF4-FFF2-40B4-BE49-F238E27FC236}">
                <a16:creationId xmlns:a16="http://schemas.microsoft.com/office/drawing/2014/main" id="{51015841-9BEA-4848-809E-41AF2C38C071}"/>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bar uses all passengers in that class as its denominator.</a:t>
            </a:r>
          </a:p>
        </p:txBody>
      </p:sp>
      <p:sp>
        <p:nvSpPr>
          <p:cNvPr id="3" name="">
            <a:extLst xmlns:a="http://schemas.openxmlformats.org/drawingml/2006/main">
              <a:ext uri="{FF2B5EF4-FFF2-40B4-BE49-F238E27FC236}">
                <a16:creationId xmlns:a16="http://schemas.microsoft.com/office/drawing/2014/main" id="{29D38D7D-B97A-4016-BCB9-D4C7D22AE057}"/>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60BF8E94-DD25-497D-B209-784F884005EC}"/>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6DC6D9DC-2B6B-4528-8249-6D0A24A6DE7A}"/>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06</a:t>
            </a:r>
          </a:p>
        </p:txBody>
      </p:sp>
      <p:graphicFrame>
        <p:nvGraphicFramePr>
          <p:cNvPr id="13" name="Chart"/>
          <p:cNvGraphicFramePr/>
          <p:nvPr/>
        </p:nvGraphicFramePr>
        <p:xfrm>
          <a:off xmlns:a="http://schemas.openxmlformats.org/drawingml/2006/main" x="1524000" y="1847850"/>
          <a:ext xmlns:a="http://schemas.openxmlformats.org/drawingml/2006/main" cx="9144000" cy="3829050"/>
        </p:xfrm>
        <a:graphic xmlns:a="http://schemas.openxmlformats.org/drawingml/2006/main">
          <a:graphicData uri="http://schemas.openxmlformats.org/drawingml/2006/chart">
            <c:chart xmlns:r="http://schemas.openxmlformats.org/officeDocument/2006/relationships" xmlns:c="http://schemas.openxmlformats.org/drawingml/2006/chart" r:id="R373a9c486093462a"/>
          </a:graphicData>
        </a:graphic>
      </p:graphicFrame>
      <p:sp>
        <p:nvSpPr>
          <p:cNvPr id="7" name="">
            <a:extLst xmlns:a="http://schemas.openxmlformats.org/drawingml/2006/main">
              <a:ext uri="{FF2B5EF4-FFF2-40B4-BE49-F238E27FC236}">
                <a16:creationId xmlns:a16="http://schemas.microsoft.com/office/drawing/2014/main" id="{48530739-3D90-48C0-B046-2A34FB226E8C}"/>
              </a:ext>
            </a:extLst>
          </p:cNvPr>
          <p:cNvSpPr>
            <a:spLocks xmlns:a="http://schemas.openxmlformats.org/drawingml/2006/main" noGrp="1"/>
          </p:cNvSpPr>
          <p:nvPr/>
        </p:nvSpPr>
        <p:spPr>
          <a:xfrm xmlns:a="http://schemas.openxmlformats.org/drawingml/2006/main">
            <a:off x="2667000" y="5695950"/>
            <a:ext cx="695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6F7880"/>
                </a:solidFill>
                <a:latin typeface="Arial"/>
                <a:ea typeface="Arial"/>
                <a:cs typeface="Arial"/>
              </a:defRPr>
            </a:pPr>
            <a:r>
              <a:rPr sz="1425" b="0">
                <a:solidFill>
                  <a:srgbClr val="6F7880"/>
                </a:solidFill>
                <a:latin typeface="Arial"/>
                <a:ea typeface="Arial"/>
                <a:cs typeface="Arial"/>
              </a:rPr>
              <a:t>136/216     ·     87/184     ·     119/491</a:t>
            </a:r>
          </a:p>
        </p:txBody>
      </p:sp>
    </p:spTree>
    <p:extLst>
      <p:ext uri="{BB962C8B-B14F-4D97-AF65-F5344CB8AC3E}">
        <p14:creationId xmlns:p14="http://schemas.microsoft.com/office/powerpoint/2010/main" val="1535789791"/>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8B9E2D83-C4EB-46F5-B082-95680C5F462E}"/>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Age adds context, but the gap is smaller</a:t>
            </a:r>
          </a:p>
        </p:txBody>
      </p:sp>
      <p:sp>
        <p:nvSpPr>
          <p:cNvPr id="2" name="slide-subtitle">
            <a:extLst xmlns:a="http://schemas.openxmlformats.org/drawingml/2006/main">
              <a:ext uri="{FF2B5EF4-FFF2-40B4-BE49-F238E27FC236}">
                <a16:creationId xmlns:a16="http://schemas.microsoft.com/office/drawing/2014/main" id="{B4FA67F3-BF68-4141-AF8B-B7754DC39104}"/>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Age-band rates use only records with a reported age.</a:t>
            </a:r>
          </a:p>
        </p:txBody>
      </p:sp>
      <p:sp>
        <p:nvSpPr>
          <p:cNvPr id="3" name="">
            <a:extLst xmlns:a="http://schemas.openxmlformats.org/drawingml/2006/main">
              <a:ext uri="{FF2B5EF4-FFF2-40B4-BE49-F238E27FC236}">
                <a16:creationId xmlns:a16="http://schemas.microsoft.com/office/drawing/2014/main" id="{23795E4B-F257-4C09-BE79-06AE698584EE}"/>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AA7137F6-39DE-40B3-B4D1-C9512EDDBF64}"/>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592A5FA8-0CFF-4FF9-81FA-EFE8A1226E11}"/>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07</a:t>
            </a:r>
          </a:p>
        </p:txBody>
      </p:sp>
      <p:graphicFrame>
        <p:nvGraphicFramePr>
          <p:cNvPr id="14" name="Chart"/>
          <p:cNvGraphicFramePr/>
          <p:nvPr/>
        </p:nvGraphicFramePr>
        <p:xfrm>
          <a:off xmlns:a="http://schemas.openxmlformats.org/drawingml/2006/main" x="1428750" y="1828800"/>
          <a:ext xmlns:a="http://schemas.openxmlformats.org/drawingml/2006/main" cx="9334500" cy="3600450"/>
        </p:xfrm>
        <a:graphic xmlns:a="http://schemas.openxmlformats.org/drawingml/2006/main">
          <a:graphicData uri="http://schemas.openxmlformats.org/drawingml/2006/chart">
            <c:chart xmlns:r="http://schemas.openxmlformats.org/officeDocument/2006/relationships" xmlns:c="http://schemas.openxmlformats.org/drawingml/2006/chart" r:id="R3709f3d0fbe54e7e"/>
          </a:graphicData>
        </a:graphic>
      </p:graphicFrame>
      <p:sp>
        <p:nvSpPr>
          <p:cNvPr id="7" name="">
            <a:extLst xmlns:a="http://schemas.openxmlformats.org/drawingml/2006/main">
              <a:ext uri="{FF2B5EF4-FFF2-40B4-BE49-F238E27FC236}">
                <a16:creationId xmlns:a16="http://schemas.microsoft.com/office/drawing/2014/main" id="{EDDF111F-2446-462C-B011-D5545A9F1BD1}"/>
              </a:ext>
            </a:extLst>
          </p:cNvPr>
          <p:cNvSpPr>
            <a:spLocks xmlns:a="http://schemas.openxmlformats.org/drawingml/2006/main" noGrp="1"/>
          </p:cNvSpPr>
          <p:nvPr/>
        </p:nvSpPr>
        <p:spPr>
          <a:xfrm xmlns:a="http://schemas.openxmlformats.org/drawingml/2006/main">
            <a:off x="1809750" y="5476875"/>
            <a:ext cx="857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F7880"/>
                </a:solidFill>
                <a:latin typeface="Arial"/>
                <a:ea typeface="Arial"/>
                <a:cs typeface="Arial"/>
              </a:defRPr>
            </a:pPr>
            <a:r>
              <a:rPr sz="1350" b="0">
                <a:solidFill>
                  <a:srgbClr val="6F7880"/>
                </a:solidFill>
                <a:latin typeface="Arial"/>
                <a:ea typeface="Arial"/>
                <a:cs typeface="Arial"/>
              </a:rPr>
              <a:t>0–12: n=69     ·     13–18: n=70     ·     19–40: n=425     ·     41+: n=148</a:t>
            </a:r>
          </a:p>
        </p:txBody>
      </p:sp>
      <p:sp>
        <p:nvSpPr>
          <p:cNvPr id="8" name="">
            <a:extLst xmlns:a="http://schemas.openxmlformats.org/drawingml/2006/main">
              <a:ext uri="{FF2B5EF4-FFF2-40B4-BE49-F238E27FC236}">
                <a16:creationId xmlns:a16="http://schemas.microsoft.com/office/drawing/2014/main" id="{3B3F126A-18D9-4872-91C3-0D7BD52167EA}"/>
              </a:ext>
            </a:extLst>
          </p:cNvPr>
          <p:cNvSpPr>
            <a:spLocks xmlns:a="http://schemas.openxmlformats.org/drawingml/2006/main" noGrp="1"/>
          </p:cNvSpPr>
          <p:nvPr/>
        </p:nvSpPr>
        <p:spPr>
          <a:xfrm xmlns:a="http://schemas.openxmlformats.org/drawingml/2006/main">
            <a:off x="1733550" y="5848350"/>
            <a:ext cx="872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92A36"/>
                </a:solidFill>
                <a:latin typeface="Arial"/>
                <a:ea typeface="Arial"/>
                <a:cs typeface="Arial"/>
              </a:defRPr>
            </a:pPr>
            <a:r>
              <a:rPr sz="1425" b="1">
                <a:solidFill>
                  <a:srgbClr val="192A36"/>
                </a:solidFill>
                <a:latin typeface="Arial"/>
                <a:ea typeface="Arial"/>
                <a:cs typeface="Arial"/>
              </a:rPr>
              <a:t>Mean age: 28.3 among survivors · 30.6 among non-survivors</a:t>
            </a:r>
          </a:p>
        </p:txBody>
      </p:sp>
    </p:spTree>
    <p:extLst>
      <p:ext uri="{BB962C8B-B14F-4D97-AF65-F5344CB8AC3E}">
        <p14:creationId xmlns:p14="http://schemas.microsoft.com/office/powerpoint/2010/main" val="1982848992"/>
      </p:ext>
    </p:extLst>
  </p:cSld>
</p:sld>
</file>

<file path=ppt/slides/slide8.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24846603-2040-422B-B1C5-DB4C6C8E70BA}"/>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F4EFE5"/>
                </a:solidFill>
                <a:latin typeface="Arial"/>
                <a:ea typeface="Arial"/>
                <a:cs typeface="Arial"/>
              </a:defRPr>
            </a:pPr>
            <a:r>
              <a:rPr sz="3450" b="1">
                <a:solidFill>
                  <a:srgbClr val="F4EFE5"/>
                </a:solidFill>
                <a:latin typeface="Arial"/>
                <a:ea typeface="Arial"/>
                <a:cs typeface="Arial"/>
              </a:rPr>
              <a:t>Class and survival were statistically associated</a:t>
            </a:r>
          </a:p>
        </p:txBody>
      </p:sp>
      <p:sp>
        <p:nvSpPr>
          <p:cNvPr id="2" name="slide-subtitle">
            <a:extLst xmlns:a="http://schemas.openxmlformats.org/drawingml/2006/main">
              <a:ext uri="{FF2B5EF4-FFF2-40B4-BE49-F238E27FC236}">
                <a16:creationId xmlns:a16="http://schemas.microsoft.com/office/drawing/2014/main" id="{BD9AF66A-B1F6-40CA-BE10-951AF9432E14}"/>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D6DDE1"/>
                </a:solidFill>
                <a:latin typeface="Arial"/>
                <a:ea typeface="Arial"/>
                <a:cs typeface="Arial"/>
              </a:defRPr>
            </a:pPr>
            <a:r>
              <a:rPr sz="1575" b="0">
                <a:solidFill>
                  <a:srgbClr val="D6DDE1"/>
                </a:solidFill>
                <a:latin typeface="Arial"/>
                <a:ea typeface="Arial"/>
                <a:cs typeface="Arial"/>
              </a:rPr>
              <a:t>Pearson chi-square test of independence · all 891 records</a:t>
            </a:r>
          </a:p>
        </p:txBody>
      </p:sp>
      <p:sp>
        <p:nvSpPr>
          <p:cNvPr id="3" name="">
            <a:extLst xmlns:a="http://schemas.openxmlformats.org/drawingml/2006/main">
              <a:ext uri="{FF2B5EF4-FFF2-40B4-BE49-F238E27FC236}">
                <a16:creationId xmlns:a16="http://schemas.microsoft.com/office/drawing/2014/main" id="{6ECF7125-F4DF-40B5-9A44-A73D5905A911}"/>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85062"/>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053126D7-3D1C-45A6-BE3B-D7B317981461}"/>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4CFD6"/>
                </a:solidFill>
                <a:latin typeface="Arial"/>
                <a:ea typeface="Arial"/>
                <a:cs typeface="Arial"/>
              </a:defRPr>
            </a:pPr>
            <a:r>
              <a:rPr sz="975" b="1">
                <a:solidFill>
                  <a:srgbClr val="C4CFD6"/>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84C12E03-7EF7-4CEB-BA5D-B26456FDAF5D}"/>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CB0897E7-309D-4205-BBD8-A6ECD8D2F9FD}"/>
              </a:ext>
            </a:extLst>
          </p:cNvPr>
          <p:cNvSpPr>
            <a:spLocks xmlns:a="http://schemas.openxmlformats.org/drawingml/2006/main" noGrp="1"/>
          </p:cNvSpPr>
          <p:nvPr/>
        </p:nvSpPr>
        <p:spPr>
          <a:xfrm xmlns:a="http://schemas.openxmlformats.org/drawingml/2006/main">
            <a:off x="857250" y="2095500"/>
            <a:ext cx="123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C3A06A"/>
                </a:solidFill>
                <a:latin typeface="Arial"/>
                <a:ea typeface="Arial"/>
                <a:cs typeface="Arial"/>
              </a:defRPr>
            </a:pPr>
            <a:r>
              <a:rPr sz="3900" b="1">
                <a:solidFill>
                  <a:srgbClr val="C3A06A"/>
                </a:solidFill>
                <a:latin typeface="Arial"/>
                <a:ea typeface="Arial"/>
                <a:cs typeface="Arial"/>
              </a:rPr>
              <a:t>H₀</a:t>
            </a:r>
          </a:p>
        </p:txBody>
      </p:sp>
      <p:sp>
        <p:nvSpPr>
          <p:cNvPr id="7" name="">
            <a:extLst xmlns:a="http://schemas.openxmlformats.org/drawingml/2006/main">
              <a:ext uri="{FF2B5EF4-FFF2-40B4-BE49-F238E27FC236}">
                <a16:creationId xmlns:a16="http://schemas.microsoft.com/office/drawing/2014/main" id="{D7D4974B-DB33-41CB-B531-DF9C92DC9A64}"/>
              </a:ext>
            </a:extLst>
          </p:cNvPr>
          <p:cNvSpPr>
            <a:spLocks xmlns:a="http://schemas.openxmlformats.org/drawingml/2006/main" noGrp="1"/>
          </p:cNvSpPr>
          <p:nvPr/>
        </p:nvSpPr>
        <p:spPr>
          <a:xfrm xmlns:a="http://schemas.openxmlformats.org/drawingml/2006/main">
            <a:off x="857250" y="2962275"/>
            <a:ext cx="3952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F4EFE5"/>
                </a:solidFill>
                <a:latin typeface="Arial"/>
                <a:ea typeface="Arial"/>
                <a:cs typeface="Arial"/>
              </a:defRPr>
            </a:pPr>
            <a:r>
              <a:rPr sz="2100" b="0">
                <a:solidFill>
                  <a:srgbClr val="F4EFE5"/>
                </a:solidFill>
                <a:latin typeface="Arial"/>
                <a:ea typeface="Arial"/>
                <a:cs typeface="Arial"/>
              </a:rPr>
              <a:t>Passenger class and recorded survival are independent.</a:t>
            </a:r>
          </a:p>
        </p:txBody>
      </p:sp>
      <p:sp>
        <p:nvSpPr>
          <p:cNvPr id="8" name="">
            <a:extLst xmlns:a="http://schemas.openxmlformats.org/drawingml/2006/main">
              <a:ext uri="{FF2B5EF4-FFF2-40B4-BE49-F238E27FC236}">
                <a16:creationId xmlns:a16="http://schemas.microsoft.com/office/drawing/2014/main" id="{CCFDBFE9-42F1-47F5-8736-9D63468E4A2C}"/>
              </a:ext>
            </a:extLst>
          </p:cNvPr>
          <p:cNvSpPr>
            <a:spLocks xmlns:a="http://schemas.openxmlformats.org/drawingml/2006/main" noGrp="1"/>
          </p:cNvSpPr>
          <p:nvPr/>
        </p:nvSpPr>
        <p:spPr>
          <a:xfrm xmlns:a="http://schemas.openxmlformats.org/drawingml/2006/main">
            <a:off x="5448300" y="2009775"/>
            <a:ext cx="19050" cy="3238500"/>
          </a:xfrm>
          <a:prstGeom xmlns:a="http://schemas.openxmlformats.org/drawingml/2006/main" prst="rect">
            <a:avLst/>
          </a:prstGeom>
          <a:solidFill xmlns:a="http://schemas.openxmlformats.org/drawingml/2006/main">
            <a:srgbClr val="49617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961390-12EA-4DAB-8E1B-AB6DFE886C4B}"/>
              </a:ext>
            </a:extLst>
          </p:cNvPr>
          <p:cNvSpPr>
            <a:spLocks xmlns:a="http://schemas.openxmlformats.org/drawingml/2006/main" noGrp="1"/>
          </p:cNvSpPr>
          <p:nvPr/>
        </p:nvSpPr>
        <p:spPr>
          <a:xfrm xmlns:a="http://schemas.openxmlformats.org/drawingml/2006/main">
            <a:off x="6191250" y="1971675"/>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D4DCE1"/>
                </a:solidFill>
                <a:latin typeface="Arial"/>
                <a:ea typeface="Arial"/>
                <a:cs typeface="Arial"/>
              </a:defRPr>
            </a:pPr>
            <a:r>
              <a:rPr sz="2325" b="1">
                <a:solidFill>
                  <a:srgbClr val="D4DCE1"/>
                </a:solidFill>
                <a:latin typeface="Arial"/>
                <a:ea typeface="Arial"/>
                <a:cs typeface="Arial"/>
              </a:rPr>
              <a:t>χ²(2)</a:t>
            </a:r>
          </a:p>
        </p:txBody>
      </p:sp>
      <p:sp>
        <p:nvSpPr>
          <p:cNvPr id="10" name="">
            <a:extLst xmlns:a="http://schemas.openxmlformats.org/drawingml/2006/main">
              <a:ext uri="{FF2B5EF4-FFF2-40B4-BE49-F238E27FC236}">
                <a16:creationId xmlns:a16="http://schemas.microsoft.com/office/drawing/2014/main" id="{82BE14B2-115E-41D9-92CA-2B3D89524467}"/>
              </a:ext>
            </a:extLst>
          </p:cNvPr>
          <p:cNvSpPr>
            <a:spLocks xmlns:a="http://schemas.openxmlformats.org/drawingml/2006/main" noGrp="1"/>
          </p:cNvSpPr>
          <p:nvPr/>
        </p:nvSpPr>
        <p:spPr>
          <a:xfrm xmlns:a="http://schemas.openxmlformats.org/drawingml/2006/main">
            <a:off x="6191250" y="253365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225" b="1">
                <a:solidFill>
                  <a:srgbClr val="F4EFE5"/>
                </a:solidFill>
                <a:latin typeface="Arial"/>
                <a:ea typeface="Arial"/>
                <a:cs typeface="Arial"/>
              </a:defRPr>
            </a:pPr>
            <a:r>
              <a:rPr sz="6225" b="1">
                <a:solidFill>
                  <a:srgbClr val="F4EFE5"/>
                </a:solidFill>
                <a:latin typeface="Arial"/>
                <a:ea typeface="Arial"/>
                <a:cs typeface="Arial"/>
              </a:rPr>
              <a:t>102.89</a:t>
            </a:r>
          </a:p>
        </p:txBody>
      </p:sp>
      <p:sp>
        <p:nvSpPr>
          <p:cNvPr id="11" name="">
            <a:extLst xmlns:a="http://schemas.openxmlformats.org/drawingml/2006/main">
              <a:ext uri="{FF2B5EF4-FFF2-40B4-BE49-F238E27FC236}">
                <a16:creationId xmlns:a16="http://schemas.microsoft.com/office/drawing/2014/main" id="{10C5E4D7-D67D-40A9-A432-0076B87FF50E}"/>
              </a:ext>
            </a:extLst>
          </p:cNvPr>
          <p:cNvSpPr>
            <a:spLocks xmlns:a="http://schemas.openxmlformats.org/drawingml/2006/main" noGrp="1"/>
          </p:cNvSpPr>
          <p:nvPr/>
        </p:nvSpPr>
        <p:spPr>
          <a:xfrm xmlns:a="http://schemas.openxmlformats.org/drawingml/2006/main">
            <a:off x="6229350" y="381952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C3A06A"/>
                </a:solidFill>
                <a:latin typeface="Arial"/>
                <a:ea typeface="Arial"/>
                <a:cs typeface="Arial"/>
              </a:defRPr>
            </a:pPr>
            <a:r>
              <a:rPr sz="2400" b="1">
                <a:solidFill>
                  <a:srgbClr val="C3A06A"/>
                </a:solidFill>
                <a:latin typeface="Arial"/>
                <a:ea typeface="Arial"/>
                <a:cs typeface="Arial"/>
              </a:rPr>
              <a:t>p = 4.55e-23</a:t>
            </a:r>
          </a:p>
        </p:txBody>
      </p:sp>
      <p:sp>
        <p:nvSpPr>
          <p:cNvPr id="12" name="">
            <a:extLst xmlns:a="http://schemas.openxmlformats.org/drawingml/2006/main">
              <a:ext uri="{FF2B5EF4-FFF2-40B4-BE49-F238E27FC236}">
                <a16:creationId xmlns:a16="http://schemas.microsoft.com/office/drawing/2014/main" id="{5E034EDA-8EE4-4DD1-AD05-FC0E16994363}"/>
              </a:ext>
            </a:extLst>
          </p:cNvPr>
          <p:cNvSpPr>
            <a:spLocks xmlns:a="http://schemas.openxmlformats.org/drawingml/2006/main" noGrp="1"/>
          </p:cNvSpPr>
          <p:nvPr/>
        </p:nvSpPr>
        <p:spPr>
          <a:xfrm xmlns:a="http://schemas.openxmlformats.org/drawingml/2006/main">
            <a:off x="6229350" y="4438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F4EFE5"/>
                </a:solidFill>
                <a:latin typeface="Arial"/>
                <a:ea typeface="Arial"/>
                <a:cs typeface="Arial"/>
              </a:defRPr>
            </a:pPr>
            <a:r>
              <a:rPr sz="1875" b="0">
                <a:solidFill>
                  <a:srgbClr val="F4EFE5"/>
                </a:solidFill>
                <a:latin typeface="Arial"/>
                <a:ea typeface="Arial"/>
                <a:cs typeface="Arial"/>
              </a:rPr>
              <a:t>Reject H₀ at α = 0.05</a:t>
            </a:r>
          </a:p>
        </p:txBody>
      </p:sp>
      <p:sp>
        <p:nvSpPr>
          <p:cNvPr id="13" name="">
            <a:extLst xmlns:a="http://schemas.openxmlformats.org/drawingml/2006/main">
              <a:ext uri="{FF2B5EF4-FFF2-40B4-BE49-F238E27FC236}">
                <a16:creationId xmlns:a16="http://schemas.microsoft.com/office/drawing/2014/main" id="{666D6742-C640-445A-814E-3789C2CC1FEE}"/>
              </a:ext>
            </a:extLst>
          </p:cNvPr>
          <p:cNvSpPr>
            <a:spLocks xmlns:a="http://schemas.openxmlformats.org/drawingml/2006/main" noGrp="1"/>
          </p:cNvSpPr>
          <p:nvPr/>
        </p:nvSpPr>
        <p:spPr>
          <a:xfrm xmlns:a="http://schemas.openxmlformats.org/drawingml/2006/main">
            <a:off x="876300" y="55626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D4DCE1"/>
                </a:solidFill>
                <a:latin typeface="Arial"/>
                <a:ea typeface="Arial"/>
                <a:cs typeface="Arial"/>
              </a:defRPr>
            </a:pPr>
            <a:r>
              <a:rPr sz="1725" b="0">
                <a:solidFill>
                  <a:srgbClr val="D4DCE1"/>
                </a:solidFill>
                <a:latin typeface="Arial"/>
                <a:ea typeface="Arial"/>
                <a:cs typeface="Arial"/>
              </a:rPr>
              <a:t>A significant association does not explain why it occurred.</a:t>
            </a:r>
          </a:p>
        </p:txBody>
      </p:sp>
    </p:spTree>
    <p:extLst>
      <p:ext uri="{BB962C8B-B14F-4D97-AF65-F5344CB8AC3E}">
        <p14:creationId xmlns:p14="http://schemas.microsoft.com/office/powerpoint/2010/main" val="523876196"/>
      </p:ext>
    </p:extLst>
  </p:cSld>
</p:sld>
</file>

<file path=ppt/slides/slide9.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EE370EE0-011B-43F0-A588-CBEFE60F7C1C}"/>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sex gap appears within every class</a:t>
            </a:r>
          </a:p>
        </p:txBody>
      </p:sp>
      <p:sp>
        <p:nvSpPr>
          <p:cNvPr id="2" name="slide-subtitle">
            <a:extLst xmlns:a="http://schemas.openxmlformats.org/drawingml/2006/main">
              <a:ext uri="{FF2B5EF4-FFF2-40B4-BE49-F238E27FC236}">
                <a16:creationId xmlns:a16="http://schemas.microsoft.com/office/drawing/2014/main" id="{8785A1F2-01B7-427C-A9F9-161BA1C6AD6E}"/>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rate differs by sex even when ticket class is held fixed.</a:t>
            </a:r>
          </a:p>
        </p:txBody>
      </p:sp>
      <p:sp>
        <p:nvSpPr>
          <p:cNvPr id="3" name="">
            <a:extLst xmlns:a="http://schemas.openxmlformats.org/drawingml/2006/main">
              <a:ext uri="{FF2B5EF4-FFF2-40B4-BE49-F238E27FC236}">
                <a16:creationId xmlns:a16="http://schemas.microsoft.com/office/drawing/2014/main" id="{F4EF0663-2662-444A-81B3-30FE78856C92}"/>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31D92988-ACA3-4525-A286-11A2DAA15595}"/>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73386344-9204-42CA-9517-AB5C892D5259}"/>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09</a:t>
            </a:r>
          </a:p>
        </p:txBody>
      </p:sp>
      <p:graphicFrame>
        <p:nvGraphicFramePr>
          <p:cNvPr id="14" name="Chart"/>
          <p:cNvGraphicFramePr/>
          <p:nvPr/>
        </p:nvGraphicFramePr>
        <p:xfrm>
          <a:off xmlns:a="http://schemas.openxmlformats.org/drawingml/2006/main" x="1123950" y="1866900"/>
          <a:ext xmlns:a="http://schemas.openxmlformats.org/drawingml/2006/main" cx="9525000" cy="3714750"/>
        </p:xfrm>
        <a:graphic xmlns:a="http://schemas.openxmlformats.org/drawingml/2006/main">
          <a:graphicData uri="http://schemas.openxmlformats.org/drawingml/2006/chart">
            <c:chart xmlns:r="http://schemas.openxmlformats.org/officeDocument/2006/relationships" xmlns:c="http://schemas.openxmlformats.org/drawingml/2006/chart" r:id="R3dacb68bb9444d01"/>
          </a:graphicData>
        </a:graphic>
      </p:graphicFrame>
      <p:sp>
        <p:nvSpPr>
          <p:cNvPr id="7" name="">
            <a:extLst xmlns:a="http://schemas.openxmlformats.org/drawingml/2006/main">
              <a:ext uri="{FF2B5EF4-FFF2-40B4-BE49-F238E27FC236}">
                <a16:creationId xmlns:a16="http://schemas.microsoft.com/office/drawing/2014/main" id="{F60EEFD9-C3B2-447B-A001-1DC8B4100143}"/>
              </a:ext>
            </a:extLst>
          </p:cNvPr>
          <p:cNvSpPr>
            <a:spLocks xmlns:a="http://schemas.openxmlformats.org/drawingml/2006/main" noGrp="1"/>
          </p:cNvSpPr>
          <p:nvPr/>
        </p:nvSpPr>
        <p:spPr>
          <a:xfrm xmlns:a="http://schemas.openxmlformats.org/drawingml/2006/main">
            <a:off x="1476375" y="57435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7880"/>
                </a:solidFill>
                <a:latin typeface="Arial"/>
                <a:ea typeface="Arial"/>
                <a:cs typeface="Arial"/>
              </a:defRPr>
            </a:pPr>
            <a:r>
              <a:rPr sz="1200" b="1">
                <a:solidFill>
                  <a:srgbClr val="6F7880"/>
                </a:solidFill>
                <a:latin typeface="Arial"/>
                <a:ea typeface="Arial"/>
                <a:cs typeface="Arial"/>
              </a:rPr>
              <a:t>Within-class denominators</a:t>
            </a:r>
          </a:p>
        </p:txBody>
      </p:sp>
      <p:sp>
        <p:nvSpPr>
          <p:cNvPr id="8" name="">
            <a:extLst xmlns:a="http://schemas.openxmlformats.org/drawingml/2006/main">
              <a:ext uri="{FF2B5EF4-FFF2-40B4-BE49-F238E27FC236}">
                <a16:creationId xmlns:a16="http://schemas.microsoft.com/office/drawing/2014/main" id="{D0D6A783-3FDA-4DA9-AE1B-5704A2E86555}"/>
              </a:ext>
            </a:extLst>
          </p:cNvPr>
          <p:cNvSpPr>
            <a:spLocks xmlns:a="http://schemas.openxmlformats.org/drawingml/2006/main" noGrp="1"/>
          </p:cNvSpPr>
          <p:nvPr/>
        </p:nvSpPr>
        <p:spPr>
          <a:xfrm xmlns:a="http://schemas.openxmlformats.org/drawingml/2006/main">
            <a:off x="1476375" y="6019800"/>
            <a:ext cx="928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1st class: 94 women · 122 men     /     2nd class: 76 women · 108 men     /     3rd class: 144 women · 347 men</a:t>
            </a:r>
          </a:p>
        </p:txBody>
      </p:sp>
    </p:spTree>
    <p:extLst>
      <p:ext uri="{BB962C8B-B14F-4D97-AF65-F5344CB8AC3E}">
        <p14:creationId xmlns:p14="http://schemas.microsoft.com/office/powerpoint/2010/main" val="221147592"/>
      </p:ext>
    </p:extLst>
  </p:cSld>
</p:sld>
</file>

<file path=ppt/slides/slide10.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58A5972-C096-4B7B-A149-41DB5D9A0541}"/>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Patterns are clear; causes are not</a:t>
            </a:r>
          </a:p>
        </p:txBody>
      </p:sp>
      <p:sp>
        <p:nvSpPr>
          <p:cNvPr id="2" name="">
            <a:extLst xmlns:a="http://schemas.openxmlformats.org/drawingml/2006/main">
              <a:ext uri="{FF2B5EF4-FFF2-40B4-BE49-F238E27FC236}">
                <a16:creationId xmlns:a16="http://schemas.microsoft.com/office/drawing/2014/main" id="{16066B0E-7D34-45AC-9593-4A04E9EDBC80}"/>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3F1436EA-75D3-42C4-8555-4A6A671BE709}"/>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C3B88A68-E003-4F0C-8D48-BEA1EEFAC1D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E8468563-3FFF-4EB1-BD77-5DCE02DD4278}"/>
              </a:ext>
            </a:extLst>
          </p:cNvPr>
          <p:cNvSpPr>
            <a:spLocks xmlns:a="http://schemas.openxmlformats.org/drawingml/2006/main" noGrp="1"/>
          </p:cNvSpPr>
          <p:nvPr/>
        </p:nvSpPr>
        <p:spPr>
          <a:xfrm xmlns:a="http://schemas.openxmlformats.org/drawingml/2006/main">
            <a:off x="857250" y="2076450"/>
            <a:ext cx="962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42637"/>
                </a:solidFill>
                <a:latin typeface="Arial"/>
                <a:ea typeface="Arial"/>
                <a:cs typeface="Arial"/>
              </a:defRPr>
            </a:pPr>
            <a:r>
              <a:rPr sz="2775" b="1">
                <a:solidFill>
                  <a:srgbClr val="142637"/>
                </a:solidFill>
                <a:latin typeface="Arial"/>
                <a:ea typeface="Arial"/>
                <a:cs typeface="Arial"/>
              </a:rPr>
              <a:t>The clearest differences in this sample track recorded sex and ticket class.</a:t>
            </a:r>
          </a:p>
        </p:txBody>
      </p:sp>
      <p:sp>
        <p:nvSpPr>
          <p:cNvPr id="6" name="">
            <a:extLst xmlns:a="http://schemas.openxmlformats.org/drawingml/2006/main">
              <a:ext uri="{FF2B5EF4-FFF2-40B4-BE49-F238E27FC236}">
                <a16:creationId xmlns:a16="http://schemas.microsoft.com/office/drawing/2014/main" id="{64049E62-0B0C-4FE7-8C5D-2D95BB4D7F90}"/>
              </a:ext>
            </a:extLst>
          </p:cNvPr>
          <p:cNvSpPr>
            <a:spLocks xmlns:a="http://schemas.openxmlformats.org/drawingml/2006/main" noGrp="1"/>
          </p:cNvSpPr>
          <p:nvPr/>
        </p:nvSpPr>
        <p:spPr>
          <a:xfrm xmlns:a="http://schemas.openxmlformats.org/drawingml/2006/main">
            <a:off x="857250" y="3238500"/>
            <a:ext cx="91440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CC54ED-B025-48A3-AADC-0FBDF19EFFA2}"/>
              </a:ext>
            </a:extLst>
          </p:cNvPr>
          <p:cNvSpPr>
            <a:spLocks xmlns:a="http://schemas.openxmlformats.org/drawingml/2006/main" noGrp="1"/>
          </p:cNvSpPr>
          <p:nvPr/>
        </p:nvSpPr>
        <p:spPr>
          <a:xfrm xmlns:a="http://schemas.openxmlformats.org/drawingml/2006/main">
            <a:off x="857250" y="3581400"/>
            <a:ext cx="933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192A36"/>
                </a:solidFill>
                <a:latin typeface="Arial"/>
                <a:ea typeface="Arial"/>
                <a:cs typeface="Arial"/>
              </a:defRPr>
            </a:pPr>
            <a:r>
              <a:rPr sz="2025" b="0">
                <a:solidFill>
                  <a:srgbClr val="192A36"/>
                </a:solidFill>
                <a:latin typeface="Arial"/>
                <a:ea typeface="Arial"/>
                <a:cs typeface="Arial"/>
              </a:rPr>
              <a:t>The passenger file can reveal patterns in outcomes. It cannot tell us, by itself, which rescue decisions caused them.</a:t>
            </a:r>
          </a:p>
        </p:txBody>
      </p:sp>
      <p:sp>
        <p:nvSpPr>
          <p:cNvPr id="8" name="">
            <a:extLst xmlns:a="http://schemas.openxmlformats.org/drawingml/2006/main">
              <a:ext uri="{FF2B5EF4-FFF2-40B4-BE49-F238E27FC236}">
                <a16:creationId xmlns:a16="http://schemas.microsoft.com/office/drawing/2014/main" id="{DD722BB3-54EE-4F12-813D-E57C196121DC}"/>
              </a:ext>
            </a:extLst>
          </p:cNvPr>
          <p:cNvSpPr>
            <a:spLocks xmlns:a="http://schemas.openxmlformats.org/drawingml/2006/main" noGrp="1"/>
          </p:cNvSpPr>
          <p:nvPr/>
        </p:nvSpPr>
        <p:spPr>
          <a:xfrm xmlns:a="http://schemas.openxmlformats.org/drawingml/2006/main">
            <a:off x="876300" y="5276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A7444B"/>
                </a:solidFill>
                <a:latin typeface="Arial"/>
                <a:ea typeface="Arial"/>
                <a:cs typeface="Arial"/>
              </a:defRPr>
            </a:pPr>
            <a:r>
              <a:rPr sz="1200" b="1">
                <a:solidFill>
                  <a:srgbClr val="A7444B"/>
                </a:solidFill>
                <a:latin typeface="Arial"/>
                <a:ea typeface="Arial"/>
                <a:cs typeface="Arial"/>
              </a:rPr>
              <a:t>CASE NOTES</a:t>
            </a:r>
          </a:p>
        </p:txBody>
      </p:sp>
      <p:sp>
        <p:nvSpPr>
          <p:cNvPr id="9" name="">
            <a:extLst xmlns:a="http://schemas.openxmlformats.org/drawingml/2006/main">
              <a:ext uri="{FF2B5EF4-FFF2-40B4-BE49-F238E27FC236}">
                <a16:creationId xmlns:a16="http://schemas.microsoft.com/office/drawing/2014/main" id="{2C0B55E5-8BDB-496D-811C-CCD24C43244A}"/>
              </a:ext>
            </a:extLst>
          </p:cNvPr>
          <p:cNvSpPr>
            <a:spLocks xmlns:a="http://schemas.openxmlformats.org/drawingml/2006/main" noGrp="1"/>
          </p:cNvSpPr>
          <p:nvPr/>
        </p:nvSpPr>
        <p:spPr>
          <a:xfrm xmlns:a="http://schemas.openxmlformats.org/drawingml/2006/main">
            <a:off x="876300" y="56197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F7880"/>
                </a:solidFill>
                <a:latin typeface="Arial"/>
                <a:ea typeface="Arial"/>
                <a:cs typeface="Arial"/>
              </a:defRPr>
            </a:pPr>
            <a:r>
              <a:rPr sz="1425" b="0">
                <a:solidFill>
                  <a:srgbClr val="6F7880"/>
                </a:solidFill>
                <a:latin typeface="Arial"/>
                <a:ea typeface="Arial"/>
                <a:cs typeface="Arial"/>
              </a:rPr>
              <a:t>Sample: Kaggle training subset  ·  Method: exploratory comparisons  ·  Claim: association, not causation</a:t>
            </a:r>
          </a:p>
        </p:txBody>
      </p:sp>
    </p:spTree>
    <p:extLst>
      <p:ext uri="{BB962C8B-B14F-4D97-AF65-F5344CB8AC3E}">
        <p14:creationId xmlns:p14="http://schemas.microsoft.com/office/powerpoint/2010/main" val="1427345805"/>
      </p:ext>
    </p:extLst>
  </p:cSld>
</p:sld>
</file>

<file path=ppt/slides/slide1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40" name="slide-title">
            <a:extLst xmlns:a="http://schemas.openxmlformats.org/drawingml/2006/main">
              <a:ext uri="{FF2B5EF4-FFF2-40B4-BE49-F238E27FC236}">
                <a16:creationId xmlns:a16="http://schemas.microsoft.com/office/drawing/2014/main" id="{0311E2D1-3D8C-4F60-A17F-D3CEBBECF177}"/>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Fields in the training file</a:t>
            </a:r>
          </a:p>
        </p:txBody>
      </p:sp>
      <p:sp>
        <p:nvSpPr>
          <p:cNvPr id="2" name="slide-subtitle">
            <a:extLst xmlns:a="http://schemas.openxmlformats.org/drawingml/2006/main">
              <a:ext uri="{FF2B5EF4-FFF2-40B4-BE49-F238E27FC236}">
                <a16:creationId xmlns:a16="http://schemas.microsoft.com/office/drawing/2014/main" id="{63FA0656-E3DB-492A-BF66-7DA354F1E499}"/>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outcome is known for 891 observations; the test file has no survival labels.</a:t>
            </a:r>
          </a:p>
        </p:txBody>
      </p:sp>
      <p:sp>
        <p:nvSpPr>
          <p:cNvPr id="3" name="">
            <a:extLst xmlns:a="http://schemas.openxmlformats.org/drawingml/2006/main">
              <a:ext uri="{FF2B5EF4-FFF2-40B4-BE49-F238E27FC236}">
                <a16:creationId xmlns:a16="http://schemas.microsoft.com/office/drawing/2014/main" id="{3EE97F61-E8CC-4B18-970B-CF9CA9D568B0}"/>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0DFC7033-B056-454F-9BED-363A157952CB}"/>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F6AE512A-427D-48B2-917A-31A863F3BA19}"/>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A3A79C20-0D5D-4F46-BDA9-72967557EBB1}"/>
              </a:ext>
            </a:extLst>
          </p:cNvPr>
          <p:cNvSpPr>
            <a:spLocks xmlns:a="http://schemas.openxmlformats.org/drawingml/2006/main" noGrp="1"/>
          </p:cNvSpPr>
          <p:nvPr/>
        </p:nvSpPr>
        <p:spPr>
          <a:xfrm xmlns:a="http://schemas.openxmlformats.org/drawingml/2006/main">
            <a:off x="71437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PassengerId</a:t>
            </a:r>
          </a:p>
        </p:txBody>
      </p:sp>
      <p:sp>
        <p:nvSpPr>
          <p:cNvPr id="7" name="">
            <a:extLst xmlns:a="http://schemas.openxmlformats.org/drawingml/2006/main">
              <a:ext uri="{FF2B5EF4-FFF2-40B4-BE49-F238E27FC236}">
                <a16:creationId xmlns:a16="http://schemas.microsoft.com/office/drawing/2014/main" id="{AAA023E1-0C99-4354-8063-E6DFE60AE8CE}"/>
              </a:ext>
            </a:extLst>
          </p:cNvPr>
          <p:cNvSpPr>
            <a:spLocks xmlns:a="http://schemas.openxmlformats.org/drawingml/2006/main" noGrp="1"/>
          </p:cNvSpPr>
          <p:nvPr/>
        </p:nvSpPr>
        <p:spPr>
          <a:xfrm xmlns:a="http://schemas.openxmlformats.org/drawingml/2006/main">
            <a:off x="239077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Record identifier</a:t>
            </a:r>
          </a:p>
        </p:txBody>
      </p:sp>
      <p:sp>
        <p:nvSpPr>
          <p:cNvPr id="8" name="">
            <a:extLst xmlns:a="http://schemas.openxmlformats.org/drawingml/2006/main">
              <a:ext uri="{FF2B5EF4-FFF2-40B4-BE49-F238E27FC236}">
                <a16:creationId xmlns:a16="http://schemas.microsoft.com/office/drawing/2014/main" id="{5870B67A-C6E4-41BA-A282-DA0DE2CDE736}"/>
              </a:ext>
            </a:extLst>
          </p:cNvPr>
          <p:cNvSpPr>
            <a:spLocks xmlns:a="http://schemas.openxmlformats.org/drawingml/2006/main" noGrp="1"/>
          </p:cNvSpPr>
          <p:nvPr/>
        </p:nvSpPr>
        <p:spPr>
          <a:xfrm xmlns:a="http://schemas.openxmlformats.org/drawingml/2006/main">
            <a:off x="71437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62789F-3D75-4FF5-952E-78D90900E55A}"/>
              </a:ext>
            </a:extLst>
          </p:cNvPr>
          <p:cNvSpPr>
            <a:spLocks xmlns:a="http://schemas.openxmlformats.org/drawingml/2006/main" noGrp="1"/>
          </p:cNvSpPr>
          <p:nvPr/>
        </p:nvSpPr>
        <p:spPr>
          <a:xfrm xmlns:a="http://schemas.openxmlformats.org/drawingml/2006/main">
            <a:off x="71437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Survived</a:t>
            </a:r>
          </a:p>
        </p:txBody>
      </p:sp>
      <p:sp>
        <p:nvSpPr>
          <p:cNvPr id="10" name="">
            <a:extLst xmlns:a="http://schemas.openxmlformats.org/drawingml/2006/main">
              <a:ext uri="{FF2B5EF4-FFF2-40B4-BE49-F238E27FC236}">
                <a16:creationId xmlns:a16="http://schemas.microsoft.com/office/drawing/2014/main" id="{41F1A50B-1D95-45F7-893C-435D5FCFA1F0}"/>
              </a:ext>
            </a:extLst>
          </p:cNvPr>
          <p:cNvSpPr>
            <a:spLocks xmlns:a="http://schemas.openxmlformats.org/drawingml/2006/main" noGrp="1"/>
          </p:cNvSpPr>
          <p:nvPr/>
        </p:nvSpPr>
        <p:spPr>
          <a:xfrm xmlns:a="http://schemas.openxmlformats.org/drawingml/2006/main">
            <a:off x="239077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Outcome (0 = no, 1 = yes)</a:t>
            </a:r>
          </a:p>
        </p:txBody>
      </p:sp>
      <p:sp>
        <p:nvSpPr>
          <p:cNvPr id="11" name="">
            <a:extLst xmlns:a="http://schemas.openxmlformats.org/drawingml/2006/main">
              <a:ext uri="{FF2B5EF4-FFF2-40B4-BE49-F238E27FC236}">
                <a16:creationId xmlns:a16="http://schemas.microsoft.com/office/drawing/2014/main" id="{5B4EEB7A-8A57-4A2A-BCE0-9AFE1FB74E5A}"/>
              </a:ext>
            </a:extLst>
          </p:cNvPr>
          <p:cNvSpPr>
            <a:spLocks xmlns:a="http://schemas.openxmlformats.org/drawingml/2006/main" noGrp="1"/>
          </p:cNvSpPr>
          <p:nvPr/>
        </p:nvSpPr>
        <p:spPr>
          <a:xfrm xmlns:a="http://schemas.openxmlformats.org/drawingml/2006/main">
            <a:off x="71437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28387B-7C65-40DE-9C55-54BF9BAD67DA}"/>
              </a:ext>
            </a:extLst>
          </p:cNvPr>
          <p:cNvSpPr>
            <a:spLocks xmlns:a="http://schemas.openxmlformats.org/drawingml/2006/main" noGrp="1"/>
          </p:cNvSpPr>
          <p:nvPr/>
        </p:nvSpPr>
        <p:spPr>
          <a:xfrm xmlns:a="http://schemas.openxmlformats.org/drawingml/2006/main">
            <a:off x="71437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Pclass</a:t>
            </a:r>
          </a:p>
        </p:txBody>
      </p:sp>
      <p:sp>
        <p:nvSpPr>
          <p:cNvPr id="13" name="">
            <a:extLst xmlns:a="http://schemas.openxmlformats.org/drawingml/2006/main">
              <a:ext uri="{FF2B5EF4-FFF2-40B4-BE49-F238E27FC236}">
                <a16:creationId xmlns:a16="http://schemas.microsoft.com/office/drawing/2014/main" id="{BFB49F79-BD41-48B3-ACE3-6B5C0008F458}"/>
              </a:ext>
            </a:extLst>
          </p:cNvPr>
          <p:cNvSpPr>
            <a:spLocks xmlns:a="http://schemas.openxmlformats.org/drawingml/2006/main" noGrp="1"/>
          </p:cNvSpPr>
          <p:nvPr/>
        </p:nvSpPr>
        <p:spPr>
          <a:xfrm xmlns:a="http://schemas.openxmlformats.org/drawingml/2006/main">
            <a:off x="239077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Ticket class (1, 2, 3)</a:t>
            </a:r>
          </a:p>
        </p:txBody>
      </p:sp>
      <p:sp>
        <p:nvSpPr>
          <p:cNvPr id="14" name="">
            <a:extLst xmlns:a="http://schemas.openxmlformats.org/drawingml/2006/main">
              <a:ext uri="{FF2B5EF4-FFF2-40B4-BE49-F238E27FC236}">
                <a16:creationId xmlns:a16="http://schemas.microsoft.com/office/drawing/2014/main" id="{70EEF532-8A59-473F-BD35-628C24785DAD}"/>
              </a:ext>
            </a:extLst>
          </p:cNvPr>
          <p:cNvSpPr>
            <a:spLocks xmlns:a="http://schemas.openxmlformats.org/drawingml/2006/main" noGrp="1"/>
          </p:cNvSpPr>
          <p:nvPr/>
        </p:nvSpPr>
        <p:spPr>
          <a:xfrm xmlns:a="http://schemas.openxmlformats.org/drawingml/2006/main">
            <a:off x="71437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BF1A56-91EC-4D6B-A9D3-86E413827268}"/>
              </a:ext>
            </a:extLst>
          </p:cNvPr>
          <p:cNvSpPr>
            <a:spLocks xmlns:a="http://schemas.openxmlformats.org/drawingml/2006/main" noGrp="1"/>
          </p:cNvSpPr>
          <p:nvPr/>
        </p:nvSpPr>
        <p:spPr>
          <a:xfrm xmlns:a="http://schemas.openxmlformats.org/drawingml/2006/main">
            <a:off x="71437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Name</a:t>
            </a:r>
          </a:p>
        </p:txBody>
      </p:sp>
      <p:sp>
        <p:nvSpPr>
          <p:cNvPr id="16" name="">
            <a:extLst xmlns:a="http://schemas.openxmlformats.org/drawingml/2006/main">
              <a:ext uri="{FF2B5EF4-FFF2-40B4-BE49-F238E27FC236}">
                <a16:creationId xmlns:a16="http://schemas.microsoft.com/office/drawing/2014/main" id="{C1CC93A5-ECDF-4ACF-B3A5-B68FFD5FDD0F}"/>
              </a:ext>
            </a:extLst>
          </p:cNvPr>
          <p:cNvSpPr>
            <a:spLocks xmlns:a="http://schemas.openxmlformats.org/drawingml/2006/main" noGrp="1"/>
          </p:cNvSpPr>
          <p:nvPr/>
        </p:nvSpPr>
        <p:spPr>
          <a:xfrm xmlns:a="http://schemas.openxmlformats.org/drawingml/2006/main">
            <a:off x="239077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Passenger name</a:t>
            </a:r>
          </a:p>
        </p:txBody>
      </p:sp>
      <p:sp>
        <p:nvSpPr>
          <p:cNvPr id="17" name="">
            <a:extLst xmlns:a="http://schemas.openxmlformats.org/drawingml/2006/main">
              <a:ext uri="{FF2B5EF4-FFF2-40B4-BE49-F238E27FC236}">
                <a16:creationId xmlns:a16="http://schemas.microsoft.com/office/drawing/2014/main" id="{9A89016D-39DB-4AD0-A140-119098AAD27F}"/>
              </a:ext>
            </a:extLst>
          </p:cNvPr>
          <p:cNvSpPr>
            <a:spLocks xmlns:a="http://schemas.openxmlformats.org/drawingml/2006/main" noGrp="1"/>
          </p:cNvSpPr>
          <p:nvPr/>
        </p:nvSpPr>
        <p:spPr>
          <a:xfrm xmlns:a="http://schemas.openxmlformats.org/drawingml/2006/main">
            <a:off x="71437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81E9C01-14B9-43BC-B8AF-C3CDEC8AAFD3}"/>
              </a:ext>
            </a:extLst>
          </p:cNvPr>
          <p:cNvSpPr>
            <a:spLocks xmlns:a="http://schemas.openxmlformats.org/drawingml/2006/main" noGrp="1"/>
          </p:cNvSpPr>
          <p:nvPr/>
        </p:nvSpPr>
        <p:spPr>
          <a:xfrm xmlns:a="http://schemas.openxmlformats.org/drawingml/2006/main">
            <a:off x="71437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Sex</a:t>
            </a:r>
          </a:p>
        </p:txBody>
      </p:sp>
      <p:sp>
        <p:nvSpPr>
          <p:cNvPr id="19" name="">
            <a:extLst xmlns:a="http://schemas.openxmlformats.org/drawingml/2006/main">
              <a:ext uri="{FF2B5EF4-FFF2-40B4-BE49-F238E27FC236}">
                <a16:creationId xmlns:a16="http://schemas.microsoft.com/office/drawing/2014/main" id="{13576364-14B2-43F7-A912-691482B4B5D8}"/>
              </a:ext>
            </a:extLst>
          </p:cNvPr>
          <p:cNvSpPr>
            <a:spLocks xmlns:a="http://schemas.openxmlformats.org/drawingml/2006/main" noGrp="1"/>
          </p:cNvSpPr>
          <p:nvPr/>
        </p:nvSpPr>
        <p:spPr>
          <a:xfrm xmlns:a="http://schemas.openxmlformats.org/drawingml/2006/main">
            <a:off x="239077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Recorded sex category</a:t>
            </a:r>
          </a:p>
        </p:txBody>
      </p:sp>
      <p:sp>
        <p:nvSpPr>
          <p:cNvPr id="20" name="">
            <a:extLst xmlns:a="http://schemas.openxmlformats.org/drawingml/2006/main">
              <a:ext uri="{FF2B5EF4-FFF2-40B4-BE49-F238E27FC236}">
                <a16:creationId xmlns:a16="http://schemas.microsoft.com/office/drawing/2014/main" id="{23F0D485-159F-46E2-9DE7-1027A4F315BA}"/>
              </a:ext>
            </a:extLst>
          </p:cNvPr>
          <p:cNvSpPr>
            <a:spLocks xmlns:a="http://schemas.openxmlformats.org/drawingml/2006/main" noGrp="1"/>
          </p:cNvSpPr>
          <p:nvPr/>
        </p:nvSpPr>
        <p:spPr>
          <a:xfrm xmlns:a="http://schemas.openxmlformats.org/drawingml/2006/main">
            <a:off x="71437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F97C5F9-ED47-4B94-9FAB-207269154EE8}"/>
              </a:ext>
            </a:extLst>
          </p:cNvPr>
          <p:cNvSpPr>
            <a:spLocks xmlns:a="http://schemas.openxmlformats.org/drawingml/2006/main" noGrp="1"/>
          </p:cNvSpPr>
          <p:nvPr/>
        </p:nvSpPr>
        <p:spPr>
          <a:xfrm xmlns:a="http://schemas.openxmlformats.org/drawingml/2006/main">
            <a:off x="71437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Age</a:t>
            </a:r>
          </a:p>
        </p:txBody>
      </p:sp>
      <p:sp>
        <p:nvSpPr>
          <p:cNvPr id="22" name="">
            <a:extLst xmlns:a="http://schemas.openxmlformats.org/drawingml/2006/main">
              <a:ext uri="{FF2B5EF4-FFF2-40B4-BE49-F238E27FC236}">
                <a16:creationId xmlns:a16="http://schemas.microsoft.com/office/drawing/2014/main" id="{E38EC9A7-D496-42D9-8597-1C575E19A670}"/>
              </a:ext>
            </a:extLst>
          </p:cNvPr>
          <p:cNvSpPr>
            <a:spLocks xmlns:a="http://schemas.openxmlformats.org/drawingml/2006/main" noGrp="1"/>
          </p:cNvSpPr>
          <p:nvPr/>
        </p:nvSpPr>
        <p:spPr>
          <a:xfrm xmlns:a="http://schemas.openxmlformats.org/drawingml/2006/main">
            <a:off x="239077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Age in years</a:t>
            </a:r>
          </a:p>
        </p:txBody>
      </p:sp>
      <p:sp>
        <p:nvSpPr>
          <p:cNvPr id="23" name="">
            <a:extLst xmlns:a="http://schemas.openxmlformats.org/drawingml/2006/main">
              <a:ext uri="{FF2B5EF4-FFF2-40B4-BE49-F238E27FC236}">
                <a16:creationId xmlns:a16="http://schemas.microsoft.com/office/drawing/2014/main" id="{3927E526-E24E-4C66-B71F-4B04D2CD3A52}"/>
              </a:ext>
            </a:extLst>
          </p:cNvPr>
          <p:cNvSpPr>
            <a:spLocks xmlns:a="http://schemas.openxmlformats.org/drawingml/2006/main" noGrp="1"/>
          </p:cNvSpPr>
          <p:nvPr/>
        </p:nvSpPr>
        <p:spPr>
          <a:xfrm xmlns:a="http://schemas.openxmlformats.org/drawingml/2006/main">
            <a:off x="633412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SibSp</a:t>
            </a:r>
          </a:p>
        </p:txBody>
      </p:sp>
      <p:sp>
        <p:nvSpPr>
          <p:cNvPr id="24" name="">
            <a:extLst xmlns:a="http://schemas.openxmlformats.org/drawingml/2006/main">
              <a:ext uri="{FF2B5EF4-FFF2-40B4-BE49-F238E27FC236}">
                <a16:creationId xmlns:a16="http://schemas.microsoft.com/office/drawing/2014/main" id="{09CBB9D4-2887-49D3-A1F2-50EADEBFC1CB}"/>
              </a:ext>
            </a:extLst>
          </p:cNvPr>
          <p:cNvSpPr>
            <a:spLocks xmlns:a="http://schemas.openxmlformats.org/drawingml/2006/main" noGrp="1"/>
          </p:cNvSpPr>
          <p:nvPr/>
        </p:nvSpPr>
        <p:spPr>
          <a:xfrm xmlns:a="http://schemas.openxmlformats.org/drawingml/2006/main">
            <a:off x="801052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Siblings / spouses aboard</a:t>
            </a:r>
          </a:p>
        </p:txBody>
      </p:sp>
      <p:sp>
        <p:nvSpPr>
          <p:cNvPr id="25" name="">
            <a:extLst xmlns:a="http://schemas.openxmlformats.org/drawingml/2006/main">
              <a:ext uri="{FF2B5EF4-FFF2-40B4-BE49-F238E27FC236}">
                <a16:creationId xmlns:a16="http://schemas.microsoft.com/office/drawing/2014/main" id="{C0E5C274-3F73-4118-9CBE-EFFD23255599}"/>
              </a:ext>
            </a:extLst>
          </p:cNvPr>
          <p:cNvSpPr>
            <a:spLocks xmlns:a="http://schemas.openxmlformats.org/drawingml/2006/main" noGrp="1"/>
          </p:cNvSpPr>
          <p:nvPr/>
        </p:nvSpPr>
        <p:spPr>
          <a:xfrm xmlns:a="http://schemas.openxmlformats.org/drawingml/2006/main">
            <a:off x="633412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4DF4FDA-A73F-421F-A02C-D4BD2D65004D}"/>
              </a:ext>
            </a:extLst>
          </p:cNvPr>
          <p:cNvSpPr>
            <a:spLocks xmlns:a="http://schemas.openxmlformats.org/drawingml/2006/main" noGrp="1"/>
          </p:cNvSpPr>
          <p:nvPr/>
        </p:nvSpPr>
        <p:spPr>
          <a:xfrm xmlns:a="http://schemas.openxmlformats.org/drawingml/2006/main">
            <a:off x="633412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Parch</a:t>
            </a:r>
          </a:p>
        </p:txBody>
      </p:sp>
      <p:sp>
        <p:nvSpPr>
          <p:cNvPr id="27" name="">
            <a:extLst xmlns:a="http://schemas.openxmlformats.org/drawingml/2006/main">
              <a:ext uri="{FF2B5EF4-FFF2-40B4-BE49-F238E27FC236}">
                <a16:creationId xmlns:a16="http://schemas.microsoft.com/office/drawing/2014/main" id="{5F5D7A08-DE9E-4A0C-B564-2441622FE260}"/>
              </a:ext>
            </a:extLst>
          </p:cNvPr>
          <p:cNvSpPr>
            <a:spLocks xmlns:a="http://schemas.openxmlformats.org/drawingml/2006/main" noGrp="1"/>
          </p:cNvSpPr>
          <p:nvPr/>
        </p:nvSpPr>
        <p:spPr>
          <a:xfrm xmlns:a="http://schemas.openxmlformats.org/drawingml/2006/main">
            <a:off x="801052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Parents / children aboard</a:t>
            </a:r>
          </a:p>
        </p:txBody>
      </p:sp>
      <p:sp>
        <p:nvSpPr>
          <p:cNvPr id="28" name="">
            <a:extLst xmlns:a="http://schemas.openxmlformats.org/drawingml/2006/main">
              <a:ext uri="{FF2B5EF4-FFF2-40B4-BE49-F238E27FC236}">
                <a16:creationId xmlns:a16="http://schemas.microsoft.com/office/drawing/2014/main" id="{C1B16514-89E6-4812-B725-163C86D06EA4}"/>
              </a:ext>
            </a:extLst>
          </p:cNvPr>
          <p:cNvSpPr>
            <a:spLocks xmlns:a="http://schemas.openxmlformats.org/drawingml/2006/main" noGrp="1"/>
          </p:cNvSpPr>
          <p:nvPr/>
        </p:nvSpPr>
        <p:spPr>
          <a:xfrm xmlns:a="http://schemas.openxmlformats.org/drawingml/2006/main">
            <a:off x="633412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AF3C2C1-63D1-4833-938A-BE7406863562}"/>
              </a:ext>
            </a:extLst>
          </p:cNvPr>
          <p:cNvSpPr>
            <a:spLocks xmlns:a="http://schemas.openxmlformats.org/drawingml/2006/main" noGrp="1"/>
          </p:cNvSpPr>
          <p:nvPr/>
        </p:nvSpPr>
        <p:spPr>
          <a:xfrm xmlns:a="http://schemas.openxmlformats.org/drawingml/2006/main">
            <a:off x="633412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Ticket</a:t>
            </a:r>
          </a:p>
        </p:txBody>
      </p:sp>
      <p:sp>
        <p:nvSpPr>
          <p:cNvPr id="30" name="">
            <a:extLst xmlns:a="http://schemas.openxmlformats.org/drawingml/2006/main">
              <a:ext uri="{FF2B5EF4-FFF2-40B4-BE49-F238E27FC236}">
                <a16:creationId xmlns:a16="http://schemas.microsoft.com/office/drawing/2014/main" id="{28C64309-9710-478C-B62E-3B5A6966845D}"/>
              </a:ext>
            </a:extLst>
          </p:cNvPr>
          <p:cNvSpPr>
            <a:spLocks xmlns:a="http://schemas.openxmlformats.org/drawingml/2006/main" noGrp="1"/>
          </p:cNvSpPr>
          <p:nvPr/>
        </p:nvSpPr>
        <p:spPr>
          <a:xfrm xmlns:a="http://schemas.openxmlformats.org/drawingml/2006/main">
            <a:off x="801052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Ticket identifier</a:t>
            </a:r>
          </a:p>
        </p:txBody>
      </p:sp>
      <p:sp>
        <p:nvSpPr>
          <p:cNvPr id="31" name="">
            <a:extLst xmlns:a="http://schemas.openxmlformats.org/drawingml/2006/main">
              <a:ext uri="{FF2B5EF4-FFF2-40B4-BE49-F238E27FC236}">
                <a16:creationId xmlns:a16="http://schemas.microsoft.com/office/drawing/2014/main" id="{8E55BD35-9757-4045-A8B7-67F54F34FAA9}"/>
              </a:ext>
            </a:extLst>
          </p:cNvPr>
          <p:cNvSpPr>
            <a:spLocks xmlns:a="http://schemas.openxmlformats.org/drawingml/2006/main" noGrp="1"/>
          </p:cNvSpPr>
          <p:nvPr/>
        </p:nvSpPr>
        <p:spPr>
          <a:xfrm xmlns:a="http://schemas.openxmlformats.org/drawingml/2006/main">
            <a:off x="633412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A59B5DD-578B-4999-9043-398508A7F220}"/>
              </a:ext>
            </a:extLst>
          </p:cNvPr>
          <p:cNvSpPr>
            <a:spLocks xmlns:a="http://schemas.openxmlformats.org/drawingml/2006/main" noGrp="1"/>
          </p:cNvSpPr>
          <p:nvPr/>
        </p:nvSpPr>
        <p:spPr>
          <a:xfrm xmlns:a="http://schemas.openxmlformats.org/drawingml/2006/main">
            <a:off x="633412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Fare</a:t>
            </a:r>
          </a:p>
        </p:txBody>
      </p:sp>
      <p:sp>
        <p:nvSpPr>
          <p:cNvPr id="33" name="">
            <a:extLst xmlns:a="http://schemas.openxmlformats.org/drawingml/2006/main">
              <a:ext uri="{FF2B5EF4-FFF2-40B4-BE49-F238E27FC236}">
                <a16:creationId xmlns:a16="http://schemas.microsoft.com/office/drawing/2014/main" id="{342D9DC1-7550-43E9-BD13-E179C633735E}"/>
              </a:ext>
            </a:extLst>
          </p:cNvPr>
          <p:cNvSpPr>
            <a:spLocks xmlns:a="http://schemas.openxmlformats.org/drawingml/2006/main" noGrp="1"/>
          </p:cNvSpPr>
          <p:nvPr/>
        </p:nvSpPr>
        <p:spPr>
          <a:xfrm xmlns:a="http://schemas.openxmlformats.org/drawingml/2006/main">
            <a:off x="801052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Fare paid</a:t>
            </a:r>
          </a:p>
        </p:txBody>
      </p:sp>
      <p:sp>
        <p:nvSpPr>
          <p:cNvPr id="34" name="">
            <a:extLst xmlns:a="http://schemas.openxmlformats.org/drawingml/2006/main">
              <a:ext uri="{FF2B5EF4-FFF2-40B4-BE49-F238E27FC236}">
                <a16:creationId xmlns:a16="http://schemas.microsoft.com/office/drawing/2014/main" id="{10447D4F-7F90-4494-9CE6-3CF5D84C230F}"/>
              </a:ext>
            </a:extLst>
          </p:cNvPr>
          <p:cNvSpPr>
            <a:spLocks xmlns:a="http://schemas.openxmlformats.org/drawingml/2006/main" noGrp="1"/>
          </p:cNvSpPr>
          <p:nvPr/>
        </p:nvSpPr>
        <p:spPr>
          <a:xfrm xmlns:a="http://schemas.openxmlformats.org/drawingml/2006/main">
            <a:off x="633412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DC70FE5-2308-491F-BE3E-259968F1B224}"/>
              </a:ext>
            </a:extLst>
          </p:cNvPr>
          <p:cNvSpPr>
            <a:spLocks xmlns:a="http://schemas.openxmlformats.org/drawingml/2006/main" noGrp="1"/>
          </p:cNvSpPr>
          <p:nvPr/>
        </p:nvSpPr>
        <p:spPr>
          <a:xfrm xmlns:a="http://schemas.openxmlformats.org/drawingml/2006/main">
            <a:off x="633412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Cabin</a:t>
            </a:r>
          </a:p>
        </p:txBody>
      </p:sp>
      <p:sp>
        <p:nvSpPr>
          <p:cNvPr id="36" name="">
            <a:extLst xmlns:a="http://schemas.openxmlformats.org/drawingml/2006/main">
              <a:ext uri="{FF2B5EF4-FFF2-40B4-BE49-F238E27FC236}">
                <a16:creationId xmlns:a16="http://schemas.microsoft.com/office/drawing/2014/main" id="{847E57EF-FFDA-4095-8C2A-430BA0CBB550}"/>
              </a:ext>
            </a:extLst>
          </p:cNvPr>
          <p:cNvSpPr>
            <a:spLocks xmlns:a="http://schemas.openxmlformats.org/drawingml/2006/main" noGrp="1"/>
          </p:cNvSpPr>
          <p:nvPr/>
        </p:nvSpPr>
        <p:spPr>
          <a:xfrm xmlns:a="http://schemas.openxmlformats.org/drawingml/2006/main">
            <a:off x="801052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Cabin identifier</a:t>
            </a:r>
          </a:p>
        </p:txBody>
      </p:sp>
      <p:sp>
        <p:nvSpPr>
          <p:cNvPr id="37" name="">
            <a:extLst xmlns:a="http://schemas.openxmlformats.org/drawingml/2006/main">
              <a:ext uri="{FF2B5EF4-FFF2-40B4-BE49-F238E27FC236}">
                <a16:creationId xmlns:a16="http://schemas.microsoft.com/office/drawing/2014/main" id="{4B9EE6CD-DE68-4BBE-ADCD-DDA7C8709063}"/>
              </a:ext>
            </a:extLst>
          </p:cNvPr>
          <p:cNvSpPr>
            <a:spLocks xmlns:a="http://schemas.openxmlformats.org/drawingml/2006/main" noGrp="1"/>
          </p:cNvSpPr>
          <p:nvPr/>
        </p:nvSpPr>
        <p:spPr>
          <a:xfrm xmlns:a="http://schemas.openxmlformats.org/drawingml/2006/main">
            <a:off x="633412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A23496A-8276-4AF5-89A2-8A26355E833D}"/>
              </a:ext>
            </a:extLst>
          </p:cNvPr>
          <p:cNvSpPr>
            <a:spLocks xmlns:a="http://schemas.openxmlformats.org/drawingml/2006/main" noGrp="1"/>
          </p:cNvSpPr>
          <p:nvPr/>
        </p:nvSpPr>
        <p:spPr>
          <a:xfrm xmlns:a="http://schemas.openxmlformats.org/drawingml/2006/main">
            <a:off x="633412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Embarked</a:t>
            </a:r>
          </a:p>
        </p:txBody>
      </p:sp>
      <p:sp>
        <p:nvSpPr>
          <p:cNvPr id="39" name="">
            <a:extLst xmlns:a="http://schemas.openxmlformats.org/drawingml/2006/main">
              <a:ext uri="{FF2B5EF4-FFF2-40B4-BE49-F238E27FC236}">
                <a16:creationId xmlns:a16="http://schemas.microsoft.com/office/drawing/2014/main" id="{ACA248CE-1401-491B-A4DD-0FCD28F843C4}"/>
              </a:ext>
            </a:extLst>
          </p:cNvPr>
          <p:cNvSpPr>
            <a:spLocks xmlns:a="http://schemas.openxmlformats.org/drawingml/2006/main" noGrp="1"/>
          </p:cNvSpPr>
          <p:nvPr/>
        </p:nvSpPr>
        <p:spPr>
          <a:xfrm xmlns:a="http://schemas.openxmlformats.org/drawingml/2006/main">
            <a:off x="801052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Port of embarkation</a:t>
            </a:r>
          </a:p>
        </p:txBody>
      </p:sp>
    </p:spTree>
    <p:extLst>
      <p:ext uri="{BB962C8B-B14F-4D97-AF65-F5344CB8AC3E}">
        <p14:creationId xmlns:p14="http://schemas.microsoft.com/office/powerpoint/2010/main" val="683400928"/>
      </p:ext>
    </p:extLst>
  </p:cSld>
</p:sld>
</file>

<file path=ppt/slides/slide1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D058F034-E04F-480C-8345-948CC2B2927B}"/>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Summary statistics</a:t>
            </a:r>
          </a:p>
        </p:txBody>
      </p:sp>
      <p:sp>
        <p:nvSpPr>
          <p:cNvPr id="2" name="slide-subtitle">
            <a:extLst xmlns:a="http://schemas.openxmlformats.org/drawingml/2006/main">
              <a:ext uri="{FF2B5EF4-FFF2-40B4-BE49-F238E27FC236}">
                <a16:creationId xmlns:a16="http://schemas.microsoft.com/office/drawing/2014/main" id="{329C5ACC-AFB1-41E6-9C0D-68B4AA2B9F48}"/>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 and fare are continuous measures; count fields are not shown here.</a:t>
            </a:r>
          </a:p>
        </p:txBody>
      </p:sp>
      <p:sp>
        <p:nvSpPr>
          <p:cNvPr id="3" name="">
            <a:extLst xmlns:a="http://schemas.openxmlformats.org/drawingml/2006/main">
              <a:ext uri="{FF2B5EF4-FFF2-40B4-BE49-F238E27FC236}">
                <a16:creationId xmlns:a16="http://schemas.microsoft.com/office/drawing/2014/main" id="{73072DE8-6DD9-4870-A151-2C0A30AFF1EF}"/>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A0755221-B7C6-413B-8043-F5323C73AC72}"/>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3EBFF984-5552-43AC-B39F-EA992F021FA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12</a:t>
            </a:r>
          </a:p>
        </p:txBody>
      </p:sp>
      <p:graphicFrame>
        <p:nvGraphicFramePr>
          <p:cNvPr id="13" name=""/>
          <p:cNvGraphicFramePr/>
          <p:nvPr/>
        </p:nvGraphicFramePr>
        <p:xfrm>
          <a:off xmlns:a="http://schemas.openxmlformats.org/drawingml/2006/main" x="1028700" y="1800225"/>
          <a:ext xmlns:a="http://schemas.openxmlformats.org/drawingml/2006/main" cx="10096500" cy="3476625"/>
        </p:xfrm>
        <a:graphic xmlns:a="http://schemas.openxmlformats.org/drawingml/2006/main">
          <a:graphicData uri="http://schemas.openxmlformats.org/drawingml/2006/table">
            <a:tbl>
              <a:tblPr firstRow="1" bandRow="1"/>
              <a:tblGrid>
                <a:gridCol w="3619500"/>
                <a:gridCol w="3143250"/>
                <a:gridCol w="3333750"/>
              </a:tblGrid>
              <a:tr h="434578">
                <a:tc>
                  <a:txBody>
                    <a:bodyPr lIns="114300" tIns="57150" rIns="114300" bIns="57150"/>
                    <a:lstStyle/>
                    <a:p>
                      <a:r>
                        <a:rPr sz="1500" b="1">
                          <a:solidFill>
                            <a:srgbClr val="FFFFFF"/>
                          </a:solidFill>
                          <a:latin typeface="Arial"/>
                          <a:ea typeface="Arial"/>
                          <a:cs typeface="Arial"/>
                        </a:rPr>
                        <a:t>Measure</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Age (years)</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Fare</a:t>
                      </a:r>
                    </a:p>
                  </a:txBody>
                  <a:tcPr marL="91440" marR="91440" marT="45720" marB="45720" anchor="ctr">
                    <a:solidFill>
                      <a:srgbClr val="142637"/>
                    </a:solidFill>
                  </a:tcPr>
                </a:tc>
              </a:tr>
              <a:tr h="434578">
                <a:tc>
                  <a:txBody>
                    <a:bodyPr lIns="114300" tIns="47625" rIns="114300" bIns="47625"/>
                    <a:lstStyle/>
                    <a:p>
                      <a:r>
                        <a:rPr sz="1425" b="1">
                          <a:solidFill>
                            <a:srgbClr val="142637"/>
                          </a:solidFill>
                          <a:latin typeface="Arial"/>
                          <a:ea typeface="Arial"/>
                          <a:cs typeface="Arial"/>
                        </a:rPr>
                        <a:t>Observed 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714</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891</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Mean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29.70</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32.20</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Median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28.00</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14.45</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Mode</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24</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8.05</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Sample variance</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211.02</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2469.44</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Standard deviation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14.53</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49.69</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Coefficient of variation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48.9%</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154.3%</a:t>
                      </a:r>
                    </a:p>
                  </a:txBody>
                  <a:tcPr marL="91440" marR="91440" marT="45720" marB="45720" anchor="ctr">
                    <a:solidFill>
                      <a:srgbClr val="F4EFE5"/>
                    </a:solidFill>
                  </a:tcPr>
                </a:tc>
              </a:tr>
            </a:tbl>
          </a:graphicData>
        </a:graphic>
      </p:graphicFrame>
      <p:sp>
        <p:nvSpPr>
          <p:cNvPr id="7" name="">
            <a:extLst xmlns:a="http://schemas.openxmlformats.org/drawingml/2006/main">
              <a:ext uri="{FF2B5EF4-FFF2-40B4-BE49-F238E27FC236}">
                <a16:creationId xmlns:a16="http://schemas.microsoft.com/office/drawing/2014/main" id="{81EE786E-6933-46E2-9F4D-956127EAEC75}"/>
              </a:ext>
            </a:extLst>
          </p:cNvPr>
          <p:cNvSpPr>
            <a:spLocks xmlns:a="http://schemas.openxmlformats.org/drawingml/2006/main" noGrp="1"/>
          </p:cNvSpPr>
          <p:nvPr/>
        </p:nvSpPr>
        <p:spPr>
          <a:xfrm xmlns:a="http://schemas.openxmlformats.org/drawingml/2006/main">
            <a:off x="1047750" y="56578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92A36"/>
                </a:solidFill>
                <a:latin typeface="Arial"/>
                <a:ea typeface="Arial"/>
                <a:cs typeface="Arial"/>
              </a:defRPr>
            </a:pPr>
            <a:r>
              <a:rPr sz="1500" b="0">
                <a:solidFill>
                  <a:srgbClr val="192A36"/>
                </a:solidFill>
                <a:latin typeface="Arial"/>
                <a:ea typeface="Arial"/>
                <a:cs typeface="Arial"/>
              </a:rPr>
              <a:t>Pairwise sample covariance, Age × Fare: 73.85 (n = 714)</a:t>
            </a:r>
          </a:p>
        </p:txBody>
      </p:sp>
    </p:spTree>
    <p:extLst>
      <p:ext uri="{BB962C8B-B14F-4D97-AF65-F5344CB8AC3E}">
        <p14:creationId xmlns:p14="http://schemas.microsoft.com/office/powerpoint/2010/main" val="721046190"/>
      </p:ext>
    </p:extLst>
  </p:cSld>
</p:sld>
</file>

<file path=ppt/slides/slide1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43AA06D5-5FA6-41E1-93AB-DE066F9CC4A9}"/>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Test, source and limits</a:t>
            </a:r>
          </a:p>
        </p:txBody>
      </p:sp>
      <p:sp>
        <p:nvSpPr>
          <p:cNvPr id="2" name="">
            <a:extLst xmlns:a="http://schemas.openxmlformats.org/drawingml/2006/main">
              <a:ext uri="{FF2B5EF4-FFF2-40B4-BE49-F238E27FC236}">
                <a16:creationId xmlns:a16="http://schemas.microsoft.com/office/drawing/2014/main" id="{672718A1-7E72-4EF6-B510-C9054D2574B2}"/>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FFFF30CD-0A0C-42B5-879B-0396000A9E50}"/>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DA756ECC-9C32-4D79-A642-033342F7FE16}"/>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681587A9-B0C3-4466-8458-3A290E3CFF36}"/>
              </a:ext>
            </a:extLst>
          </p:cNvPr>
          <p:cNvSpPr>
            <a:spLocks xmlns:a="http://schemas.openxmlformats.org/drawingml/2006/main" noGrp="1"/>
          </p:cNvSpPr>
          <p:nvPr/>
        </p:nvSpPr>
        <p:spPr>
          <a:xfrm xmlns:a="http://schemas.openxmlformats.org/drawingml/2006/main">
            <a:off x="781050" y="18954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HYPOTHESIS TEST</a:t>
            </a:r>
          </a:p>
        </p:txBody>
      </p:sp>
      <p:sp>
        <p:nvSpPr>
          <p:cNvPr id="6" name="">
            <a:extLst xmlns:a="http://schemas.openxmlformats.org/drawingml/2006/main">
              <a:ext uri="{FF2B5EF4-FFF2-40B4-BE49-F238E27FC236}">
                <a16:creationId xmlns:a16="http://schemas.microsoft.com/office/drawing/2014/main" id="{67468E82-6890-4B5D-89CA-F27657630885}"/>
              </a:ext>
            </a:extLst>
          </p:cNvPr>
          <p:cNvSpPr>
            <a:spLocks xmlns:a="http://schemas.openxmlformats.org/drawingml/2006/main" noGrp="1"/>
          </p:cNvSpPr>
          <p:nvPr/>
        </p:nvSpPr>
        <p:spPr>
          <a:xfrm xmlns:a="http://schemas.openxmlformats.org/drawingml/2006/main">
            <a:off x="781050" y="227647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42637"/>
                </a:solidFill>
                <a:latin typeface="Arial"/>
                <a:ea typeface="Arial"/>
                <a:cs typeface="Arial"/>
              </a:defRPr>
            </a:pPr>
            <a:r>
              <a:rPr sz="1875" b="1">
                <a:solidFill>
                  <a:srgbClr val="142637"/>
                </a:solidFill>
                <a:latin typeface="Arial"/>
                <a:ea typeface="Arial"/>
                <a:cs typeface="Arial"/>
              </a:rPr>
              <a:t>χ²(2) = 102.89   ·   p = 4.55e-23</a:t>
            </a:r>
          </a:p>
        </p:txBody>
      </p:sp>
      <p:sp>
        <p:nvSpPr>
          <p:cNvPr id="7" name="">
            <a:extLst xmlns:a="http://schemas.openxmlformats.org/drawingml/2006/main">
              <a:ext uri="{FF2B5EF4-FFF2-40B4-BE49-F238E27FC236}">
                <a16:creationId xmlns:a16="http://schemas.microsoft.com/office/drawing/2014/main" id="{8C8211E4-0286-4BEB-B52D-5AE629EED07F}"/>
              </a:ext>
            </a:extLst>
          </p:cNvPr>
          <p:cNvSpPr>
            <a:spLocks xmlns:a="http://schemas.openxmlformats.org/drawingml/2006/main" noGrp="1"/>
          </p:cNvSpPr>
          <p:nvPr/>
        </p:nvSpPr>
        <p:spPr>
          <a:xfrm xmlns:a="http://schemas.openxmlformats.org/drawingml/2006/main">
            <a:off x="781050" y="27622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Passenger class × recorded survival</a:t>
            </a:r>
          </a:p>
        </p:txBody>
      </p:sp>
      <p:sp>
        <p:nvSpPr>
          <p:cNvPr id="8" name="">
            <a:extLst xmlns:a="http://schemas.openxmlformats.org/drawingml/2006/main">
              <a:ext uri="{FF2B5EF4-FFF2-40B4-BE49-F238E27FC236}">
                <a16:creationId xmlns:a16="http://schemas.microsoft.com/office/drawing/2014/main" id="{C4F6568D-18E1-4231-A94B-5BD484552093}"/>
              </a:ext>
            </a:extLst>
          </p:cNvPr>
          <p:cNvSpPr>
            <a:spLocks xmlns:a="http://schemas.openxmlformats.org/drawingml/2006/main" noGrp="1"/>
          </p:cNvSpPr>
          <p:nvPr/>
        </p:nvSpPr>
        <p:spPr>
          <a:xfrm xmlns:a="http://schemas.openxmlformats.org/drawingml/2006/main">
            <a:off x="781050" y="33432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69EFDF-3DE6-4A92-80AA-FF18340E4585}"/>
              </a:ext>
            </a:extLst>
          </p:cNvPr>
          <p:cNvSpPr>
            <a:spLocks xmlns:a="http://schemas.openxmlformats.org/drawingml/2006/main" noGrp="1"/>
          </p:cNvSpPr>
          <p:nvPr/>
        </p:nvSpPr>
        <p:spPr>
          <a:xfrm xmlns:a="http://schemas.openxmlformats.org/drawingml/2006/main">
            <a:off x="781050" y="36385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7DF7CE33-AA23-4C3F-947A-F3F2BF4A5544}"/>
              </a:ext>
            </a:extLst>
          </p:cNvPr>
          <p:cNvSpPr>
            <a:spLocks xmlns:a="http://schemas.openxmlformats.org/drawingml/2006/main" noGrp="1"/>
          </p:cNvSpPr>
          <p:nvPr/>
        </p:nvSpPr>
        <p:spPr>
          <a:xfrm xmlns:a="http://schemas.openxmlformats.org/drawingml/2006/main">
            <a:off x="781050" y="39624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2637"/>
                </a:solidFill>
                <a:latin typeface="Arial"/>
                <a:ea typeface="Arial"/>
                <a:cs typeface="Arial"/>
              </a:defRPr>
            </a:pPr>
            <a:r>
              <a:rPr sz="1575" b="1">
                <a:solidFill>
                  <a:srgbClr val="142637"/>
                </a:solidFill>
                <a:latin typeface="Arial"/>
                <a:ea typeface="Arial"/>
                <a:cs typeface="Arial"/>
              </a:rPr>
              <a:t>Kaggle · Titanic: Machine Learning from Disaster · train.csv</a:t>
            </a:r>
          </a:p>
        </p:txBody>
      </p:sp>
      <p:sp>
        <p:nvSpPr>
          <p:cNvPr id="11" name="">
            <a:extLst xmlns:a="http://schemas.openxmlformats.org/drawingml/2006/main">
              <a:ext uri="{FF2B5EF4-FFF2-40B4-BE49-F238E27FC236}">
                <a16:creationId xmlns:a16="http://schemas.microsoft.com/office/drawing/2014/main" id="{55385CF3-287F-45BD-896F-46C26821870C}"/>
              </a:ext>
            </a:extLst>
          </p:cNvPr>
          <p:cNvSpPr>
            <a:spLocks xmlns:a="http://schemas.openxmlformats.org/drawingml/2006/main" noGrp="1"/>
          </p:cNvSpPr>
          <p:nvPr/>
        </p:nvSpPr>
        <p:spPr>
          <a:xfrm xmlns:a="http://schemas.openxmlformats.org/drawingml/2006/main">
            <a:off x="781050" y="43148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476F88"/>
                </a:solidFill>
                <a:latin typeface="Arial"/>
                <a:ea typeface="Arial"/>
                <a:cs typeface="Arial"/>
              </a:defRPr>
            </a:pPr>
            <a:r>
              <a:rPr sz="1350" b="0">
                <a:solidFill>
                  <a:srgbClr val="476F88"/>
                </a:solidFill>
                <a:latin typeface="Arial"/>
                <a:ea typeface="Arial"/>
                <a:cs typeface="Arial"/>
              </a:rPr>
              <a:t>kaggle.com/competitions/titanic/data</a:t>
            </a:r>
          </a:p>
        </p:txBody>
      </p:sp>
      <p:sp>
        <p:nvSpPr>
          <p:cNvPr id="12" name="">
            <a:extLst xmlns:a="http://schemas.openxmlformats.org/drawingml/2006/main">
              <a:ext uri="{FF2B5EF4-FFF2-40B4-BE49-F238E27FC236}">
                <a16:creationId xmlns:a16="http://schemas.microsoft.com/office/drawing/2014/main" id="{E8552CC5-C3D1-4DC5-B193-01F38EFF445C}"/>
              </a:ext>
            </a:extLst>
          </p:cNvPr>
          <p:cNvSpPr>
            <a:spLocks xmlns:a="http://schemas.openxmlformats.org/drawingml/2006/main" noGrp="1"/>
          </p:cNvSpPr>
          <p:nvPr/>
        </p:nvSpPr>
        <p:spPr>
          <a:xfrm xmlns:a="http://schemas.openxmlformats.org/drawingml/2006/main">
            <a:off x="781050" y="48291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41210BA-8036-41C3-8399-60401562F0D6}"/>
              </a:ext>
            </a:extLst>
          </p:cNvPr>
          <p:cNvSpPr>
            <a:spLocks xmlns:a="http://schemas.openxmlformats.org/drawingml/2006/main" noGrp="1"/>
          </p:cNvSpPr>
          <p:nvPr/>
        </p:nvSpPr>
        <p:spPr>
          <a:xfrm xmlns:a="http://schemas.openxmlformats.org/drawingml/2006/main">
            <a:off x="781050" y="50958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LIMITS</a:t>
            </a:r>
          </a:p>
        </p:txBody>
      </p:sp>
      <p:sp>
        <p:nvSpPr>
          <p:cNvPr id="14" name="">
            <a:extLst xmlns:a="http://schemas.openxmlformats.org/drawingml/2006/main">
              <a:ext uri="{FF2B5EF4-FFF2-40B4-BE49-F238E27FC236}">
                <a16:creationId xmlns:a16="http://schemas.microsoft.com/office/drawing/2014/main" id="{1C64A6BE-4C05-4F88-8780-47EA2EE007CA}"/>
              </a:ext>
            </a:extLst>
          </p:cNvPr>
          <p:cNvSpPr>
            <a:spLocks xmlns:a="http://schemas.openxmlformats.org/drawingml/2006/main" noGrp="1"/>
          </p:cNvSpPr>
          <p:nvPr/>
        </p:nvSpPr>
        <p:spPr>
          <a:xfrm xmlns:a="http://schemas.openxmlformats.org/drawingml/2006/main">
            <a:off x="781050" y="541972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Training subset, 891 records · observational data · association does not prove cause</a:t>
            </a:r>
          </a:p>
        </p:txBody>
      </p:sp>
      <p:sp>
        <p:nvSpPr>
          <p:cNvPr id="15" name="">
            <a:extLst xmlns:a="http://schemas.openxmlformats.org/drawingml/2006/main">
              <a:ext uri="{FF2B5EF4-FFF2-40B4-BE49-F238E27FC236}">
                <a16:creationId xmlns:a16="http://schemas.microsoft.com/office/drawing/2014/main" id="{3E9DDCAA-41B1-40B5-8705-6020397AAA95}"/>
              </a:ext>
            </a:extLst>
          </p:cNvPr>
          <p:cNvSpPr>
            <a:spLocks xmlns:a="http://schemas.openxmlformats.org/drawingml/2006/main" noGrp="1"/>
          </p:cNvSpPr>
          <p:nvPr/>
        </p:nvSpPr>
        <p:spPr>
          <a:xfrm xmlns:a="http://schemas.openxmlformats.org/drawingml/2006/main">
            <a:off x="781050" y="583882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Cover image: Wikimedia Commons · CC0 / public domain</a:t>
            </a:r>
          </a:p>
        </p:txBody>
      </p:sp>
    </p:spTree>
    <p:extLst>
      <p:ext uri="{BB962C8B-B14F-4D97-AF65-F5344CB8AC3E}">
        <p14:creationId xmlns:p14="http://schemas.microsoft.com/office/powerpoint/2010/main" val="2021387507"/>
      </p:ext>
    </p:extLst>
  </p:cSld>
</p:sld>
</file>

<file path=ppt/theme/theme1.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2026-10-02T21:58:12.1920000Z</dcterms:created>
  <dcterms:modified xsi:type="dcterms:W3CDTF">2026-10-02T21:58:12.1920000Z</dcterms:modified>
</coreProperties>
</file>